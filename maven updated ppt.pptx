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6" r:id="rId19"/>
    <p:sldId id="277" r:id="rId20"/>
    <p:sldId id="279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0" y="1645920"/>
            <a:ext cx="9601200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 dirty="0"/>
              <a:t>Apache Maven</a:t>
            </a:r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  <a:latin typeface="Verdana"/>
              </a:defRPr>
            </a:pPr>
            <a:r>
              <a:rPr dirty="0"/>
              <a:t>A Complete Beginner's Guide to Build Automation, Architecture, Lifecycles, and CLI Commands</a:t>
            </a:r>
            <a:endParaRPr lang="en-IN" dirty="0"/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  <a:latin typeface="Verdana"/>
              </a:defRPr>
            </a:pPr>
            <a:endParaRPr lang="en-IN" dirty="0"/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  <a:latin typeface="Verdana"/>
              </a:defRPr>
            </a:pPr>
            <a:endParaRPr lang="en-IN" dirty="0"/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  <a:latin typeface="Verdana"/>
              </a:defRPr>
            </a:pPr>
            <a:r>
              <a:rPr lang="en-IN" dirty="0"/>
              <a:t>INT 331 – Unit 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Maven Automates Java Build Pipelines Through Project Object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C7253E"/>
                </a:solidFill>
                <a:latin typeface="Georgia"/>
              </a:defRPr>
            </a:pPr>
            <a:r>
              <a:t>Traditional Build Challenges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Manual Library Tracking: </a:t>
            </a:r>
            <a:r>
              <a:rPr b="0">
                <a:solidFill>
                  <a:srgbClr val="475569"/>
                </a:solidFill>
              </a:rPr>
              <a:t>Developers manually download JARs and commit binary files to source control.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Classpath Inconsistencies: </a:t>
            </a:r>
            <a:r>
              <a:rPr b="0">
                <a:solidFill>
                  <a:srgbClr val="475569"/>
                </a:solidFill>
              </a:rPr>
              <a:t>Projects break when developer machines have subtle classpath variations.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Imperative Build Scripts: </a:t>
            </a:r>
            <a:r>
              <a:rPr b="0">
                <a:solidFill>
                  <a:srgbClr val="475569"/>
                </a:solidFill>
              </a:rPr>
              <a:t>Tools like Ant require explicitly scripting every compilation and copying step.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No Standard Layout: </a:t>
            </a:r>
            <a:r>
              <a:rPr b="0">
                <a:solidFill>
                  <a:srgbClr val="475569"/>
                </a:solidFill>
              </a:rPr>
              <a:t>Every project organizes source code, tests, and outputs differently.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The Maven Solution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Declarative POM File: </a:t>
            </a:r>
            <a:r>
              <a:rPr b="0">
                <a:solidFill>
                  <a:srgbClr val="475569"/>
                </a:solidFill>
              </a:rPr>
              <a:t>Project configuration is declared in a single pom.xml file.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Automated Dependency Resolution: </a:t>
            </a:r>
            <a:r>
              <a:rPr b="0">
                <a:solidFill>
                  <a:srgbClr val="475569"/>
                </a:solidFill>
              </a:rPr>
              <a:t>Maven automatically fetches required JARs and transitive libraries from repositories.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Standard Directory Layout: </a:t>
            </a:r>
            <a:r>
              <a:rPr b="0">
                <a:solidFill>
                  <a:srgbClr val="475569"/>
                </a:solidFill>
              </a:rPr>
              <a:t>Enforces a uniform directory structure so developers instantly understand any codebase.</a:t>
            </a:r>
          </a:p>
          <a:p>
            <a:pPr>
              <a:spcAft>
                <a:spcPts val="10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Predefined Lifecycles: </a:t>
            </a:r>
            <a:r>
              <a:rPr b="0">
                <a:solidFill>
                  <a:srgbClr val="475569"/>
                </a:solidFill>
              </a:rPr>
              <a:t>Provides built-in lifecycle phases (compile, test, package, deploy).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Convention Over Configuration Eliminates Boilerplate Build Scripting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50815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2942"/>
                </a:solidFill>
                <a:latin typeface="Georgia"/>
              </a:defRPr>
            </a:pPr>
            <a:r>
              <a:t>Convention over Configuration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Default project layouts and build behaviors eliminate thousands of lines of custom build scripts across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5150815" cy="50800"/>
          </a:xfrm>
          <a:prstGeom prst="rect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7253E"/>
                </a:solidFill>
                <a:latin typeface="Georgia"/>
              </a:defRPr>
            </a:pPr>
            <a:r>
              <a:t>Centralized Dependencies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Transitive dependency trees are resolved automatically from central or remote repositories with full version locking.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150815" cy="50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A580C"/>
                </a:solidFill>
                <a:latin typeface="Georgia"/>
              </a:defRPr>
            </a:pPr>
            <a:r>
              <a:t>Extensible Plugin Ecosystem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Build phases delegate actual work to decoupled plugin goals (e.g. Compiler, Surefire, Exec, Javadoc).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150815" cy="508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2942"/>
                </a:solidFill>
                <a:latin typeface="Georgia"/>
              </a:defRPr>
            </a:pPr>
            <a:r>
              <a:t>Reproducible Builds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Strict coordinate management guarantees identical artifact outputs across developer workstations and CI/CD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Declarative Specifications Outperform Procedural Imperative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Apache Ant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GNU Make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Apache Maven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Build 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Procedural (XML targets)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Procedural (Makefile rules)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Verdana"/>
                        </a:defRPr>
                      </a:pPr>
                      <a:r>
                        <a:t>Declarative (POM Object Model)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Dependency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Manual / Third-party (Ivy)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Manual system paths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Verdana"/>
                        </a:defRPr>
                      </a:pPr>
                      <a:r>
                        <a:t>Automated (Central &amp; Local Repos)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Project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Custom per 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Custom per Makefile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Verdana"/>
                        </a:defRPr>
                      </a:pPr>
                      <a:r>
                        <a:t>Standardized Directory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Reusability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Low (copy-paste scripts)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Low (custom shell code)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Verdana"/>
                        </a:defRPr>
                      </a:pPr>
                      <a:r>
                        <a:t>High (Reusable Plugins &amp; Parents)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2. PROJECT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Standardized Directory Structure Guarantees Instant Codebase Familiarity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5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7548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  <a:latin typeface="Courier New"/>
              </a:defRPr>
            </a:pPr>
            <a:r>
              <a:t>my-app/</a:t>
            </a:r>
            <a:br/>
            <a:r>
              <a:t>├── pom.xml                   # Project descriptor</a:t>
            </a:r>
            <a:br/>
            <a:r>
              <a:t>└── src/</a:t>
            </a:r>
            <a:br/>
            <a:r>
              <a:t>    ├── main/</a:t>
            </a:r>
            <a:br/>
            <a:r>
              <a:t>    │   ├── java/             # Main Java sources</a:t>
            </a:r>
            <a:br/>
            <a:r>
              <a:t>    │   ├── resources/        # App config &amp; assets</a:t>
            </a:r>
            <a:br/>
            <a:r>
              <a:t>    │   └── webapp/           # Web app files (WAR)</a:t>
            </a:r>
            <a:br/>
            <a:r>
              <a:t>    └── test/</a:t>
            </a:r>
            <a:br/>
            <a:r>
              <a:t>        ├── java/             # Unit test sources</a:t>
            </a:r>
            <a:br/>
            <a:r>
              <a:t>        └── resources/        # Test config data</a:t>
            </a:r>
            <a:br/>
            <a:r>
              <a:t>└── target/                   # Generated build outputs</a:t>
            </a:r>
            <a:br/>
            <a:r>
              <a:t>    ├── classes/              # Compiled .class files</a:t>
            </a:r>
            <a:br/>
            <a:r>
              <a:t>    └── my-app-1.0.jar        # Final artifact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645920"/>
            <a:ext cx="5669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  <a:latin typeface="Georgia"/>
              </a:defRPr>
            </a:pPr>
            <a:r>
              <a:t>src/main/java</a:t>
            </a:r>
            <a:br/>
            <a:endParaRPr/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Contains production Java source files matching package hierarchy (e.g., com/example/App.java).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  <a:latin typeface="Georgia"/>
              </a:defRPr>
            </a:pPr>
            <a:r>
              <a:t>src/main/resources</a:t>
            </a:r>
            <a:br/>
            <a:endParaRPr/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Holds classpath resources such as application.properties, XML configs, and assets.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  <a:latin typeface="Georgia"/>
              </a:defRPr>
            </a:pPr>
            <a:r>
              <a:t>src/test/java</a:t>
            </a:r>
            <a:br/>
            <a:endParaRPr/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Houses unit &amp; integration test classes (JUnit / TestNG) excluded from final production package.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  <a:latin typeface="Georgia"/>
              </a:defRPr>
            </a:pPr>
            <a:r>
              <a:t>src/test/resources</a:t>
            </a:r>
            <a:br/>
            <a:endParaRPr/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Mock data and configuration properties required strictly during testing phases.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  <a:latin typeface="Georgia"/>
              </a:defRPr>
            </a:pPr>
            <a:r>
              <a:t>target/</a:t>
            </a:r>
            <a:br/>
            <a:endParaRPr/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Output directory created during build containing compiled bytecode, reports, and packaged JAR/WAR files.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2. PROJECT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The Project Object Model (pom.xml) Serves as the Single Source of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6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Courier New"/>
              </a:defRPr>
            </a:pPr>
            <a:r>
              <a:t>&lt;project xmlns="http://maven.apache.org/POM/4.0.0"&gt;</a:t>
            </a:r>
            <a:br/>
            <a:r>
              <a:t>  &lt;modelVersion&gt;4.0.0&lt;/modelVersion&gt;</a:t>
            </a:r>
            <a:br/>
            <a:br/>
            <a:r>
              <a:t>  &lt;groupId&gt;com.example.app&lt;/groupId&gt;</a:t>
            </a:r>
            <a:br/>
            <a:r>
              <a:t>  &lt;artifactId&gt;my-app&lt;/artifactId&gt;</a:t>
            </a:r>
            <a:br/>
            <a:r>
              <a:t>  &lt;version&gt;1.0.0-SNAPSHOT&lt;/version&gt;</a:t>
            </a:r>
            <a:br/>
            <a:r>
              <a:t>  &lt;packaging&gt;jar&lt;/packaging&gt;</a:t>
            </a:r>
            <a:br/>
            <a:br/>
            <a:r>
              <a:t>  &lt;dependencies&gt;</a:t>
            </a:r>
            <a:br/>
            <a:r>
              <a:t>    &lt;dependency&gt;</a:t>
            </a:r>
            <a:br/>
            <a:r>
              <a:t>      &lt;groupId&gt;org.junit.jupiter&lt;/groupId&gt;</a:t>
            </a:r>
            <a:br/>
            <a:r>
              <a:t>      &lt;artifactId&gt;junit-jupiter&lt;/artifactId&gt;</a:t>
            </a:r>
            <a:br/>
            <a:r>
              <a:t>      &lt;version&gt;5.9.2&lt;/version&gt;</a:t>
            </a:r>
            <a:br/>
            <a:r>
              <a:t>      &lt;scope&gt;test&lt;/scope&gt;</a:t>
            </a:r>
            <a:br/>
            <a:r>
              <a:t>    &lt;/dependency&gt;</a:t>
            </a:r>
            <a:br/>
            <a:r>
              <a:t>  &lt;/dependencies&gt;</a:t>
            </a:r>
            <a:br/>
            <a:r>
              <a:t>&lt;/project&gt;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t>&lt;project&gt; &amp; &lt;modelVersion&gt;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Root element defining XML schema. Version 4.0.0 is standard for Maven 2 &amp; 3.</a:t>
            </a:r>
          </a:p>
          <a:p>
            <a:pPr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t>&lt;groupId&gt;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Uniquely identifies project developer or organization (usually reverse domain name).</a:t>
            </a:r>
          </a:p>
          <a:p>
            <a:pPr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t>&lt;artifactId&gt;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Name of the binary output file generated by the project (e.g. my-app).</a:t>
            </a:r>
          </a:p>
          <a:p>
            <a:pPr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t>&lt;version&gt;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Specific version release tag (SNAPSHOT signifies an active development build).</a:t>
            </a:r>
          </a:p>
          <a:p>
            <a:pPr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t>&lt;dependencies&gt;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Container block declaring external third-party libraries required for build/runtime.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2. PROJECT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Group, Artifact, and Version (GAV) Form Unique Coordinate Identifiers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7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645920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groupId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Georgia"/>
              </a:defRPr>
            </a:pPr>
            <a:r>
              <a:t>Organization Identifier  (Example: com.google.guava)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Defines the parent organization or package hierarchy. Prevents library naming collisions.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645920" cy="1051560"/>
          </a:xfrm>
          <a:prstGeom prst="rect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artifactId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9718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Georgia"/>
              </a:defRPr>
            </a:pPr>
            <a:r>
              <a:t>Project Binary Name  (Example: guava)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The specific module or library name. Forms the base name of the generated output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645920" cy="105156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16052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Georgia"/>
              </a:defRPr>
            </a:pPr>
            <a:r>
              <a:t>Release / State Tag  (Example: 31.1-jre)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Tracks project iterations. SNAPSHOT indicates unstable dev builds; numeric tags indicate final releases.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A580C"/>
                </a:solidFill>
                <a:latin typeface="Courier New"/>
              </a:defRPr>
            </a:pPr>
            <a:r>
              <a:t>Repository Storage Path Formula:  ~/.m2/repository/{groupId}/{artifactId}/{version}/{artifactId}-{version}.jar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3.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Maven Coordinates Project Descriptors, Repositories, and Plugin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8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542032" cy="762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942"/>
                </a:solidFill>
                <a:latin typeface="Georgia"/>
              </a:defRPr>
            </a:pPr>
            <a:r>
              <a:t>1. User CLI Command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Developer executes command:</a:t>
            </a:r>
            <a:br/>
            <a:r>
              <a:t>'mvn clean package'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00984" y="3749039"/>
            <a:ext cx="1371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56432" y="201168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2011680"/>
            <a:ext cx="2542032" cy="762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228600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2942"/>
                </a:solidFill>
                <a:latin typeface="Georgia"/>
              </a:defRPr>
            </a:pPr>
            <a:r>
              <a:t>2. Core Engine &amp; POM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Maven reads pom.xml,</a:t>
            </a:r>
            <a:br/>
            <a:r>
              <a:t>builds effective model &amp; dependency graph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5896" y="3749039"/>
            <a:ext cx="1371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81344" y="201168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81344" y="2011680"/>
            <a:ext cx="2542032" cy="76200"/>
          </a:xfrm>
          <a:prstGeom prst="rect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228600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C7253E"/>
                </a:solidFill>
                <a:latin typeface="Georgia"/>
              </a:defRPr>
            </a:pPr>
            <a:r>
              <a:t>3. Repository Resolution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Checks Local Repo;</a:t>
            </a:r>
            <a:br/>
            <a:r>
              <a:t>downloads missing JARs from Central/Remote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0808" y="3749039"/>
            <a:ext cx="137160" cy="27432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06256" y="2011680"/>
            <a:ext cx="254203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06256" y="2011680"/>
            <a:ext cx="2542032" cy="76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43416" y="2286000"/>
            <a:ext cx="22677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A580C"/>
                </a:solidFill>
                <a:latin typeface="Georgia"/>
              </a:defRPr>
            </a:pPr>
            <a:r>
              <a:t>4. Plugin Goal Execution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Binds goals to requested phase &amp; executes compiled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3.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 Three-Tiered Repository Model Resolves and Caches Project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9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2942"/>
                </a:solidFill>
                <a:latin typeface="Georgia"/>
              </a:defRPr>
            </a:pPr>
            <a:r>
              <a:t>Local Repository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  <a:latin typeface="Courier New"/>
              </a:defRPr>
            </a:pPr>
            <a:r>
              <a:t>Location: ~/.m2/repository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First stop for dependency resolution. Caches all downloaded dependencies and locally installed artifacts on developer workstation.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7253E"/>
                </a:solidFill>
                <a:latin typeface="Georgia"/>
              </a:defRPr>
            </a:pPr>
            <a:r>
              <a:t>Central Repository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  <a:latin typeface="Courier New"/>
              </a:defRPr>
            </a:pPr>
            <a:r>
              <a:t>Location: repo.maven.apache.org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Global public repository hosted by Apache community. Contains millions of open-source Java libraries and frameworks.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182880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A580C"/>
                </a:solidFill>
                <a:latin typeface="Georgia"/>
              </a:defRPr>
            </a:pPr>
            <a:r>
              <a:t>Remote / Corporate Repo</a:t>
            </a:r>
          </a:p>
          <a:p>
            <a:pPr>
              <a:spcAft>
                <a:spcPts val="1200"/>
              </a:spcAft>
              <a:defRPr sz="1000" b="1">
                <a:solidFill>
                  <a:srgbClr val="0F172A"/>
                </a:solidFill>
                <a:latin typeface="Courier New"/>
              </a:defRPr>
            </a:pPr>
            <a:r>
              <a:t>Location: Nexus / Artifactory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Private enterprise repository hosted on internal networks. Houses proprietary corporate code and proxies central downloads.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4. DEPENDENCY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Transitive Resolution Manages Library Trees and Conflict Mediation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10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Courier New"/>
              </a:defRPr>
            </a:pPr>
            <a:r>
              <a:t>TRANSITIVE DEPENDENCY GRAPH</a:t>
            </a:r>
            <a:br/>
            <a:br/>
            <a:r>
              <a:t>Your Project (my-app)</a:t>
            </a:r>
            <a:br/>
            <a:r>
              <a:t> └── Direct Dependency: Spring Boot 3.0</a:t>
            </a:r>
            <a:br/>
            <a:r>
              <a:t>      ├── Transitive: Jackson Core 2.14</a:t>
            </a:r>
            <a:br/>
            <a:r>
              <a:t>      └── Transitive: Spring Context 6.0</a:t>
            </a:r>
            <a:br/>
            <a:r>
              <a:t>           └── Transitive: Spring AOP 6.0</a:t>
            </a:r>
            <a:br/>
            <a:br/>
            <a:r>
              <a:t>★ Maven automatically downloads Jackson &amp; AOP</a:t>
            </a:r>
            <a:br/>
            <a:r>
              <a:t>  without requiring explicit POM declarations!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t>Dependency Mediation Rules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Nearest Definition Rule: </a:t>
            </a:r>
            <a:r>
              <a:rPr b="0">
                <a:solidFill>
                  <a:srgbClr val="475569"/>
                </a:solidFill>
              </a:rPr>
              <a:t>Maven selects the version closest to the root project in the dependency tree. (Depth 1 overrides Depth 2).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First Declaration Wins: </a:t>
            </a:r>
            <a:r>
              <a:rPr b="0">
                <a:solidFill>
                  <a:srgbClr val="475569"/>
                </a:solidFill>
              </a:rPr>
              <a:t>If two conflicting versions are at the same depth, the dependency declared first in the POM wins.</a:t>
            </a:r>
          </a:p>
          <a:p>
            <a:pPr>
              <a:spcAft>
                <a:spcPts val="12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Explicit Override: </a:t>
            </a:r>
            <a:r>
              <a:rPr b="0">
                <a:solidFill>
                  <a:srgbClr val="475569"/>
                </a:solidFill>
              </a:rPr>
              <a:t>Declaring a dependency version directly in your project POM always overrides any transitive resolution.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4. DEPENDENCY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Dependency Scopes Control Classpath Inclusion Across Build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11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09278"/>
              </p:ext>
            </p:extLst>
          </p:nvPr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sz="2000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sz="2000"/>
                        <a:t>Classpath Inclusion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sz="2000"/>
                        <a:t>Transitive?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rPr sz="2000"/>
                        <a:t>Typical Use Case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400"/>
                        <a:t>compile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Compile, Test, Runtime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Core utility libraries (e.g., Apache Commons, Guava)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400"/>
                        <a:t>provided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Compile, Test (Not Package)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Servlet API, JDK features provided by application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400"/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Test, Runtime (Not Compile)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JDBC Database Drivers (e.g., PostgreSQL, MySQL driver)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40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Test Classpath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Testing frameworks (JUnit 5, Mockito, AssertJ)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400"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Compile, Test (Local Path)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400" dirty="0"/>
                        <a:t>Legacy unmanaged local JARs specified via &lt;</a:t>
                      </a:r>
                      <a:r>
                        <a:rPr sz="1400" dirty="0" err="1"/>
                        <a:t>systemPath</a:t>
                      </a:r>
                      <a:r>
                        <a:rPr sz="1400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5. BUILD LIFECYCLES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Three Standard Lifecycles Structure Cleanup, Build Processing, and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12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7253E"/>
                </a:solidFill>
                <a:latin typeface="Georgia"/>
              </a:defRPr>
            </a:pPr>
            <a:r>
              <a:t>1. Clean Lifecycle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CLI: mvn clean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Responsible for purging previous build outputs, temporary class files, and packaged JAR artifacts from the target/ directory.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82880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2942"/>
                </a:solidFill>
                <a:latin typeface="Georgia"/>
              </a:defRPr>
            </a:pPr>
            <a:r>
              <a:t>2. Default Lifecycle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CLI: mvn build / package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The main execution lifecycle comprising 23 sequential phases. Handles validation, compilation, testing, packaging, and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564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4" y="1828800"/>
            <a:ext cx="3090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A580C"/>
                </a:solidFill>
                <a:latin typeface="Georgia"/>
              </a:defRPr>
            </a:pPr>
            <a:r>
              <a:t>3. Site Lifecycle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  <a:latin typeface="Courier New"/>
              </a:defRPr>
            </a:pPr>
            <a:r>
              <a:t>CLI: mvn site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Generates web documentation, HTML pages, Surefire unit test reports, and dependency metrics for the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6. LIFECYCLE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The Clean Lifecycle Wipes Target Outputs to Ensure Uncontaminated Compilations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13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evron 6"/>
          <p:cNvSpPr/>
          <p:nvPr/>
        </p:nvSpPr>
        <p:spPr>
          <a:xfrm>
            <a:off x="731520" y="1645920"/>
            <a:ext cx="2560320" cy="1188720"/>
          </a:xfrm>
          <a:prstGeom prst="chevron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pre-clean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74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Executes preparation steps prior to actual project cleaning (e.g. archiving previous build logs).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evron 9"/>
          <p:cNvSpPr/>
          <p:nvPr/>
        </p:nvSpPr>
        <p:spPr>
          <a:xfrm>
            <a:off x="731520" y="3108960"/>
            <a:ext cx="2560320" cy="1188720"/>
          </a:xfrm>
          <a:prstGeom prst="chevron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375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Removes all files generated by previous builds by deleting target/ output directory.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731520" y="4572000"/>
            <a:ext cx="2560320" cy="1188720"/>
          </a:xfrm>
          <a:prstGeom prst="chevron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ourier New"/>
              </a:defRPr>
            </a:pPr>
            <a:r>
              <a:t>post-clean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00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Executes post-cleaning notifications, cleanup validation, or environment resets.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6. LIFECYCLE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Validation, Source Compilation, and Unit Testing Form the Initial Build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14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42032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Checks project structure correctness and verifies all required POM metadata is present.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42032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compile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Compiles application Java source files from src/main/java into target/classes.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42032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test-compile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Compiles unit test source files from src/test/java into target/test-classes.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06256" y="1645920"/>
            <a:ext cx="2542032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Runs compiled unit tests using testing framework (e.g. JUnit). Fails build if tests fail.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6. LIFECYCLE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Packaging, Verification, and Local/Remote Distribution Complete the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15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42032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Bundles compiled bytecode and resources into distributable format (JAR, WAR, EAR).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42032" cy="5486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Executes integration checks to ensure quality criteria and security metrics are met.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42032" cy="548640"/>
          </a:xfrm>
          <a:prstGeom prst="rect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Installs final package into local repository (~/.m2) for use as local dependency.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06256" y="1645920"/>
            <a:ext cx="2542032" cy="548640"/>
          </a:xfrm>
          <a:prstGeom prst="rect">
            <a:avLst/>
          </a:prstGeom>
          <a:solidFill>
            <a:srgbClr val="C7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377440"/>
            <a:ext cx="22677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Copies final artifact package to remote corporate repository (Nexus) for team sharing.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6. LIFECYCLE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Site Lifecycle Automates Project Web Portal Generation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16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19456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pre-site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8308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Executes preliminary tasks required before generating site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219456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88036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Generates HTML project documentation, Javadoc API guides, and code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219456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post-site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9776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Finalizes site generation and prepares documentation bundle for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59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937759"/>
            <a:ext cx="219456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ourier New"/>
              </a:defRPr>
            </a:pPr>
            <a:r>
              <a:t>site-deploy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5074919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Deploys generated site documentation to designated web server or server pool.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1E6B-693E-CC3A-DE09-8AA025C4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IN" b="1" dirty="0"/>
              <a:t>Maven 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BC30914-0C3E-0C02-ACDD-B61D6ABD5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IN" altLang="en-US"/>
          </a:p>
        </p:txBody>
      </p:sp>
      <p:pic>
        <p:nvPicPr>
          <p:cNvPr id="9220" name="Picture 2" descr="architecture">
            <a:extLst>
              <a:ext uri="{FF2B5EF4-FFF2-40B4-BE49-F238E27FC236}">
                <a16:creationId xmlns:a16="http://schemas.microsoft.com/office/drawing/2014/main" id="{E1842557-0873-43DC-6E45-48F413ABD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1268414"/>
            <a:ext cx="5029200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 descr="Maven in Java - Edureka">
            <a:extLst>
              <a:ext uri="{FF2B5EF4-FFF2-40B4-BE49-F238E27FC236}">
                <a16:creationId xmlns:a16="http://schemas.microsoft.com/office/drawing/2014/main" id="{2544F64B-F2E6-649F-21A5-E99C1471A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025" y="3429001"/>
            <a:ext cx="5380038" cy="324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B9141-8716-89AB-3889-8FEC122B9673}"/>
              </a:ext>
            </a:extLst>
          </p:cNvPr>
          <p:cNvSpPr txBox="1"/>
          <p:nvPr/>
        </p:nvSpPr>
        <p:spPr>
          <a:xfrm>
            <a:off x="1007434" y="639081"/>
            <a:ext cx="10741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Maven Lifecycle → contains Phases → each Phase executes Goals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A250B-D4DA-07A4-B23D-E07CCA531AD0}"/>
              </a:ext>
            </a:extLst>
          </p:cNvPr>
          <p:cNvSpPr txBox="1"/>
          <p:nvPr/>
        </p:nvSpPr>
        <p:spPr>
          <a:xfrm>
            <a:off x="1119076" y="1663719"/>
            <a:ext cx="105182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Maven Lifecycle</a:t>
            </a:r>
          </a:p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lifecycle</a:t>
            </a:r>
            <a:r>
              <a:rPr lang="en-IN" dirty="0"/>
              <a:t> is a complete sequence of steps Maven follows to build a project.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0BACD-B9B5-2E5F-2081-4187A1D5B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" y="2450901"/>
            <a:ext cx="1209675" cy="398145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E78836-AA15-5070-7773-C11E038CA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984001"/>
              </p:ext>
            </p:extLst>
          </p:nvPr>
        </p:nvGraphicFramePr>
        <p:xfrm>
          <a:off x="5826642" y="2697479"/>
          <a:ext cx="5263116" cy="2927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8316">
                  <a:extLst>
                    <a:ext uri="{9D8B030D-6E8A-4147-A177-3AD203B41FA5}">
                      <a16:colId xmlns:a16="http://schemas.microsoft.com/office/drawing/2014/main" val="3716483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395614122"/>
                    </a:ext>
                  </a:extLst>
                </a:gridCol>
              </a:tblGrid>
              <a:tr h="73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Lifecycle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6424199"/>
                  </a:ext>
                </a:extLst>
              </a:tr>
              <a:tr h="73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Clean/remove previous build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991907"/>
                  </a:ext>
                </a:extLst>
              </a:tr>
              <a:tr h="73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default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Build, test and package the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244240"/>
                  </a:ext>
                </a:extLst>
              </a:tr>
              <a:tr h="731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 project documentation/site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0978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071ED9C-6683-9133-1EDB-671E94915F4B}"/>
              </a:ext>
            </a:extLst>
          </p:cNvPr>
          <p:cNvSpPr txBox="1"/>
          <p:nvPr/>
        </p:nvSpPr>
        <p:spPr>
          <a:xfrm>
            <a:off x="7493295" y="292414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/>
              <a:t>Maven has three built-in lifecycles:</a:t>
            </a:r>
          </a:p>
        </p:txBody>
      </p:sp>
    </p:spTree>
    <p:extLst>
      <p:ext uri="{BB962C8B-B14F-4D97-AF65-F5344CB8AC3E}">
        <p14:creationId xmlns:p14="http://schemas.microsoft.com/office/powerpoint/2010/main" val="975297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C4F5F-F476-F5F4-9A89-3957551EF8DB}"/>
              </a:ext>
            </a:extLst>
          </p:cNvPr>
          <p:cNvSpPr txBox="1"/>
          <p:nvPr/>
        </p:nvSpPr>
        <p:spPr>
          <a:xfrm>
            <a:off x="730989" y="235044"/>
            <a:ext cx="10369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 Maven Phase</a:t>
            </a:r>
          </a:p>
          <a:p>
            <a:pPr>
              <a:buNone/>
            </a:pP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one step in a lifecycle</a:t>
            </a:r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8DB0A-9330-889B-7402-3FA7B9184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89" y="1500963"/>
            <a:ext cx="2314575" cy="304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29CF9-3193-98C8-C0D4-6BA41DBCA33C}"/>
              </a:ext>
            </a:extLst>
          </p:cNvPr>
          <p:cNvSpPr txBox="1"/>
          <p:nvPr/>
        </p:nvSpPr>
        <p:spPr>
          <a:xfrm>
            <a:off x="3910123" y="1500963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latin typeface="+mn-lt"/>
              </a:rPr>
              <a:t> When we run command </a:t>
            </a:r>
          </a:p>
          <a:p>
            <a:pPr rtl="0"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+mn-lt"/>
              </a:rPr>
              <a:t>       </a:t>
            </a:r>
            <a:r>
              <a:rPr lang="en-IN" dirty="0" err="1">
                <a:latin typeface="+mn-lt"/>
              </a:rPr>
              <a:t>mvn</a:t>
            </a:r>
            <a:r>
              <a:rPr lang="en-IN" dirty="0">
                <a:latin typeface="+mn-lt"/>
              </a:rPr>
              <a:t> compile</a:t>
            </a:r>
          </a:p>
          <a:p>
            <a:pPr>
              <a:buNone/>
            </a:pP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you are asking Maven to execute the </a:t>
            </a:r>
            <a:r>
              <a:rPr lang="en-IN" b="1" dirty="0"/>
              <a:t>compile phase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06EC9-0B44-90B4-C89E-B7817A3E956A}"/>
              </a:ext>
            </a:extLst>
          </p:cNvPr>
          <p:cNvSpPr txBox="1"/>
          <p:nvPr/>
        </p:nvSpPr>
        <p:spPr>
          <a:xfrm>
            <a:off x="4282264" y="3071728"/>
            <a:ext cx="60977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>
                <a:latin typeface="+mn-lt"/>
              </a:rPr>
              <a:t>And when you run </a:t>
            </a:r>
          </a:p>
          <a:p>
            <a:pPr rtl="0">
              <a:buNone/>
            </a:pPr>
            <a:endParaRPr lang="en-IN" dirty="0"/>
          </a:p>
          <a:p>
            <a:pPr rtl="0">
              <a:buNone/>
            </a:pPr>
            <a:r>
              <a:rPr lang="en-IN" dirty="0" err="1">
                <a:latin typeface="+mn-lt"/>
              </a:rPr>
              <a:t>mvn</a:t>
            </a:r>
            <a:r>
              <a:rPr lang="en-IN" dirty="0">
                <a:latin typeface="+mn-lt"/>
              </a:rPr>
              <a:t> package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Maven doesn't execute only </a:t>
            </a:r>
            <a:r>
              <a:rPr lang="en-IN" dirty="0">
                <a:latin typeface="+mn-lt"/>
              </a:rPr>
              <a:t>package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executes all required phases before it: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validate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compile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test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package</a:t>
            </a:r>
            <a:endParaRPr lang="en-IN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847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F66BE-20AB-C381-98B3-D852D6125294}"/>
              </a:ext>
            </a:extLst>
          </p:cNvPr>
          <p:cNvSpPr txBox="1"/>
          <p:nvPr/>
        </p:nvSpPr>
        <p:spPr>
          <a:xfrm>
            <a:off x="404037" y="138224"/>
            <a:ext cx="116532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3. Maven Goal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actual task performed by a Maven plugin.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IN" sz="2400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maven-compiler-plugin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compile goal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example:</a:t>
            </a: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maven-surefire-plugin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test goal</a:t>
            </a: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Another: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maven-jar-plugin</a:t>
            </a:r>
          </a:p>
          <a:p>
            <a:pPr rtl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jar goal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770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7. PLUGIN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rPr dirty="0"/>
              <a:t>Plugin Goals Carry Out Actual Work Bound to High-Level Lifecycle Phases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17 of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464198"/>
            <a:ext cx="107286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8477"/>
            <a:ext cx="10180015" cy="3852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F2942"/>
                </a:solidFill>
                <a:latin typeface="Georgia"/>
              </a:defRPr>
            </a:pPr>
            <a:r>
              <a:rPr sz="3600" dirty="0"/>
              <a:t>Phases vs Goals Architecture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  <a:latin typeface="Verdana"/>
              </a:defRPr>
            </a:pPr>
            <a:r>
              <a:rPr sz="1600" dirty="0"/>
              <a:t>A Lifecycle Phase is an abstract step in the build sequence. Actual work is performed by Plugin Goals bound to phases.</a:t>
            </a:r>
          </a:p>
          <a:p>
            <a:pPr>
              <a:spcAft>
                <a:spcPts val="1000"/>
              </a:spcAft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rPr sz="1600" dirty="0"/>
              <a:t>• compile (Phase) </a:t>
            </a:r>
            <a:r>
              <a:rPr sz="1600" dirty="0">
                <a:solidFill>
                  <a:srgbClr val="475569"/>
                </a:solidFill>
              </a:rPr>
              <a:t>→ Bound Goal: </a:t>
            </a:r>
            <a:r>
              <a:rPr sz="1600" b="1" dirty="0" err="1">
                <a:solidFill>
                  <a:srgbClr val="0F2942"/>
                </a:solidFill>
              </a:rPr>
              <a:t>maven-compiler-plugin:compile</a:t>
            </a:r>
            <a:r>
              <a:rPr sz="1600" b="1" dirty="0">
                <a:solidFill>
                  <a:srgbClr val="0F2942"/>
                </a:solidFill>
              </a:rPr>
              <a:t>  </a:t>
            </a:r>
            <a:r>
              <a:rPr sz="1600" b="0" dirty="0">
                <a:solidFill>
                  <a:srgbClr val="475569"/>
                </a:solidFill>
              </a:rPr>
              <a:t>(Compiles main Java sources)</a:t>
            </a:r>
          </a:p>
          <a:p>
            <a:pPr>
              <a:spcAft>
                <a:spcPts val="1000"/>
              </a:spcAft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rPr sz="1600" dirty="0"/>
              <a:t>• test (Phase) </a:t>
            </a:r>
            <a:r>
              <a:rPr sz="1600" dirty="0">
                <a:solidFill>
                  <a:srgbClr val="475569"/>
                </a:solidFill>
              </a:rPr>
              <a:t>→ Bound Goal: </a:t>
            </a:r>
            <a:r>
              <a:rPr sz="1600" b="1" dirty="0" err="1">
                <a:solidFill>
                  <a:srgbClr val="0F2942"/>
                </a:solidFill>
              </a:rPr>
              <a:t>maven-surefire-plugin:test</a:t>
            </a:r>
            <a:r>
              <a:rPr sz="1600" b="1" dirty="0">
                <a:solidFill>
                  <a:srgbClr val="0F2942"/>
                </a:solidFill>
              </a:rPr>
              <a:t>  </a:t>
            </a:r>
            <a:r>
              <a:rPr sz="1600" b="0" dirty="0">
                <a:solidFill>
                  <a:srgbClr val="475569"/>
                </a:solidFill>
              </a:rPr>
              <a:t>(Executes unit test suites)</a:t>
            </a:r>
          </a:p>
          <a:p>
            <a:pPr>
              <a:spcAft>
                <a:spcPts val="1000"/>
              </a:spcAft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rPr sz="1600" dirty="0"/>
              <a:t>• package (Phase) </a:t>
            </a:r>
            <a:r>
              <a:rPr sz="1600" dirty="0">
                <a:solidFill>
                  <a:srgbClr val="475569"/>
                </a:solidFill>
              </a:rPr>
              <a:t>→ Bound Goal: </a:t>
            </a:r>
            <a:r>
              <a:rPr sz="1600" b="1" dirty="0" err="1">
                <a:solidFill>
                  <a:srgbClr val="0F2942"/>
                </a:solidFill>
              </a:rPr>
              <a:t>maven-jar-plugin:jar</a:t>
            </a:r>
            <a:r>
              <a:rPr sz="1600" b="1" dirty="0">
                <a:solidFill>
                  <a:srgbClr val="0F2942"/>
                </a:solidFill>
              </a:rPr>
              <a:t>  </a:t>
            </a:r>
            <a:r>
              <a:rPr sz="1600" b="0" dirty="0">
                <a:solidFill>
                  <a:srgbClr val="475569"/>
                </a:solidFill>
              </a:rPr>
              <a:t>(Packages classes into .jar file)</a:t>
            </a:r>
          </a:p>
          <a:p>
            <a:pPr>
              <a:spcAft>
                <a:spcPts val="1000"/>
              </a:spcAft>
              <a:defRPr sz="1200" b="1">
                <a:solidFill>
                  <a:srgbClr val="C7253E"/>
                </a:solidFill>
                <a:latin typeface="Courier New"/>
              </a:defRPr>
            </a:pPr>
            <a:r>
              <a:rPr sz="1600" dirty="0"/>
              <a:t>• install (Phase) </a:t>
            </a:r>
            <a:r>
              <a:rPr sz="1600" dirty="0">
                <a:solidFill>
                  <a:srgbClr val="475569"/>
                </a:solidFill>
              </a:rPr>
              <a:t>→ Bound Goal: </a:t>
            </a:r>
            <a:r>
              <a:rPr sz="1600" b="1" dirty="0" err="1">
                <a:solidFill>
                  <a:srgbClr val="0F2942"/>
                </a:solidFill>
              </a:rPr>
              <a:t>maven-install-plugin:install</a:t>
            </a:r>
            <a:r>
              <a:rPr sz="1600" b="1" dirty="0">
                <a:solidFill>
                  <a:srgbClr val="0F2942"/>
                </a:solidFill>
              </a:rPr>
              <a:t>  </a:t>
            </a:r>
            <a:r>
              <a:rPr sz="1600" b="0" dirty="0">
                <a:solidFill>
                  <a:srgbClr val="475569"/>
                </a:solidFill>
              </a:rPr>
              <a:t>(Installs artifact into ~/.m2 repo)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8. MAVEN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CLI Commands Handle Daily Compilation, Testing, and Packaging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t>Apache Maven Beginner Guide  |  Slide 18 of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379512"/>
              </p:ext>
            </p:extLst>
          </p:nvPr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Command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Target Lifecycle /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Developer Action /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800"/>
                        <a:t>mvn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Clean lifecycle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Purges target/ directory to remove previous build outputs.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800"/>
                        <a:t>mvn compile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Default -&gt; compile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Compiles application Java source files under src/main/java.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800"/>
                        <a:t>mvn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Default -&gt;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Runs unit tests and outputs test execution reports.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800"/>
                        <a:t>mvn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Default -&gt;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Compiles, tests, and packages code into target/ (e.g. JAR/WAR).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7253E"/>
                          </a:solidFill>
                          <a:latin typeface="Courier New"/>
                        </a:defRPr>
                      </a:pPr>
                      <a:r>
                        <a:rPr sz="1800"/>
                        <a:t>mvn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/>
                        <a:t>Default -&gt; install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rPr sz="1800" dirty="0"/>
                        <a:t>Packages and installs artifact into local repository (~/.m2).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8. MAVEN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Command-Line Flags Enable Offline Building, Debugging, and Test Skipping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412755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Verdana"/>
              </a:defRPr>
            </a:pPr>
            <a:r>
              <a:rPr dirty="0"/>
              <a:t>Apache Maven </a:t>
            </a:r>
            <a:r>
              <a:rPr lang="en-IN" dirty="0"/>
              <a:t>INT 331 Unit 3 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7253E"/>
                </a:solidFill>
                <a:latin typeface="Courier New"/>
              </a:defRPr>
            </a:pPr>
            <a:r>
              <a:t>-DskipTests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Skip Test Execution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Compiles test source code but skips running unit test suites during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2942"/>
                </a:solidFill>
                <a:latin typeface="Courier New"/>
              </a:defRPr>
            </a:pPr>
            <a:r>
              <a:t>-X or --debug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Enable Debug Logging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Prints full stack traces, plugin parameters, and diagnostic execution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A580C"/>
                </a:solidFill>
                <a:latin typeface="Courier New"/>
              </a:defRPr>
            </a:pPr>
            <a:r>
              <a:t>-o or --offline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Offline Build Mode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Prevents Maven from checking or attempting downloads from remote repositories.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2942"/>
                </a:solidFill>
                <a:latin typeface="Courier New"/>
              </a:defRPr>
            </a:pPr>
            <a:r>
              <a:t>-U or --update-snapshots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Georgia"/>
              </a:defRPr>
            </a:pPr>
            <a:r>
              <a:t>Force Snapshot Update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Forces Maven to check remote repositories for updated SNAPSHOT releases.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7253E"/>
                </a:solidFill>
                <a:latin typeface="Verdana"/>
              </a:defRPr>
            </a:pPr>
            <a:r>
              <a:t>9. SUMMARY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Following Maven Best Practices Guarantees Clean, Reproducible Builds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89888"/>
            <a:ext cx="10728655" cy="25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942"/>
                </a:solidFill>
                <a:latin typeface="Georgia"/>
              </a:defRPr>
            </a:pPr>
            <a:r>
              <a:t>1. Lock Plugin &amp; Dependency Versions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Never rely on unpinned dynamic versions. Always explicitly define dependency and plugin version tags in pom.xml to guarantee build reproducibility.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7253E"/>
                </a:solidFill>
                <a:latin typeface="Georgia"/>
              </a:defRPr>
            </a:pPr>
            <a:r>
              <a:t>2. Leverage Bill of Materials (BOM)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Use &lt;dependencyManagement&gt; and framework BOMs (e.g. Spring Boot BOM) to maintain consistent dependency versions across multi-module projects.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A580C"/>
                </a:solidFill>
                <a:latin typeface="Georgia"/>
              </a:defRPr>
            </a:pPr>
            <a:r>
              <a:t>3. Avoid System Scope Dependencies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Do not hardcode local filesystem library paths using system scope. Instead, install third-party private JARs into your local or corporate remote repository.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5081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60217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942"/>
                </a:solidFill>
                <a:latin typeface="Georgia"/>
              </a:defRPr>
            </a:pPr>
            <a:r>
              <a:t>4. Respect Standard Directory Layout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Never customize default directory locations unless strictly necessary. Adhering to conventions keeps codebases clean and easy for new developers to navigate.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2496</Words>
  <Application>Microsoft Office PowerPoint</Application>
  <PresentationFormat>Widescreen</PresentationFormat>
  <Paragraphs>307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Maven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WAHEGURU JI</dc:creator>
  <cp:keywords/>
  <dc:description>generated using python-pptx</dc:description>
  <cp:lastModifiedBy>harpreet kaur</cp:lastModifiedBy>
  <cp:revision>7</cp:revision>
  <dcterms:created xsi:type="dcterms:W3CDTF">2013-01-27T09:14:16Z</dcterms:created>
  <dcterms:modified xsi:type="dcterms:W3CDTF">2026-09-22T05:52:54Z</dcterms:modified>
  <cp:category/>
</cp:coreProperties>
</file>