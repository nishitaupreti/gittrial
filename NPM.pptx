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5" r:id="rId3"/>
    <p:sldMasterId id="214748369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87" r:id="rId16"/>
    <p:sldId id="273" r:id="rId17"/>
    <p:sldId id="288" r:id="rId18"/>
    <p:sldId id="274" r:id="rId19"/>
    <p:sldId id="275" r:id="rId20"/>
    <p:sldId id="289" r:id="rId21"/>
    <p:sldId id="290" r:id="rId22"/>
    <p:sldId id="291" r:id="rId23"/>
    <p:sldId id="292" r:id="rId24"/>
    <p:sldId id="293" r:id="rId25"/>
    <p:sldId id="276" r:id="rId26"/>
    <p:sldId id="277" r:id="rId27"/>
    <p:sldId id="278" r:id="rId28"/>
    <p:sldId id="279" r:id="rId29"/>
    <p:sldId id="294" r:id="rId30"/>
    <p:sldId id="300" r:id="rId31"/>
    <p:sldId id="296" r:id="rId32"/>
    <p:sldId id="297" r:id="rId33"/>
    <p:sldId id="298" r:id="rId34"/>
    <p:sldId id="299" r:id="rId35"/>
    <p:sldId id="280" r:id="rId36"/>
    <p:sldId id="281" r:id="rId37"/>
    <p:sldId id="282" r:id="rId38"/>
    <p:sldId id="283" r:id="rId3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920" y="2131127"/>
            <a:ext cx="10364160" cy="14687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61" y="3885945"/>
            <a:ext cx="8534400" cy="1752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9A7A281-61F5-E45C-70D7-1D07FA09A8A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79AFF6A-6CDF-F7A5-631E-644442F4589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ABEA11D-7C52-801E-44CB-543F6CA4DD13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2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8ADF70F-E1BA-24D4-0F72-F10F1558C1D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1B4B87C-2F52-01AC-1062-0A415347FD4D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AFE0DB21-06CD-2F2F-F9B1-E4E855CF0D91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4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840" y="4406247"/>
            <a:ext cx="10362240" cy="136315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840" y="2906778"/>
            <a:ext cx="10362240" cy="149946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1A914C6-A4E1-8F2C-5AC0-F628D494F61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A0DD795-917A-1827-82D9-AEBD5B604F9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764BF61-480A-B4DA-D5B3-5453B31FF28A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0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41" y="1631943"/>
            <a:ext cx="5456640" cy="4239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76801" y="1631943"/>
            <a:ext cx="5456640" cy="4239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51B8C7E-49AD-3803-1AFA-1EAE208413F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B40ED0F-F871-4403-CA96-C181E678067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D7BF0B5-7BBE-32BB-43A4-778856F30FBD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06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561" y="274552"/>
            <a:ext cx="10972800" cy="114235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0560" y="1535946"/>
            <a:ext cx="538560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560" y="2175285"/>
            <a:ext cx="538560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921" y="1535946"/>
            <a:ext cx="538944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921" y="2175285"/>
            <a:ext cx="538944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D2143BF-F950-1512-F7D3-C0644344D11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11563B5-F27D-7A34-6299-9C3BA7E14A6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A1DE2411-CA8C-9040-AF28-29D15A1D88DA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44E8C539-4B2E-938E-B5A2-47E4AB8BA9D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334E78E-E630-34B0-77A5-110AFB6286D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CF01BA6-16B7-A5B2-B057-F5BF41BF3ECF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6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2E8BB888-F063-CC4A-D069-48F2D4261C5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538FEDA6-FAD1-733E-3F87-394EE2A6D49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7C7323F-FAD4-2E35-66F3-8D9D1A4C2EF2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9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560" y="272630"/>
            <a:ext cx="4010880" cy="116156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61" y="272630"/>
            <a:ext cx="6816000" cy="585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0560" y="1434190"/>
            <a:ext cx="4010880" cy="46923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162D08B-0488-C6A5-7F22-1B2B7CBF544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B6B071F-1C72-2169-7E9A-DEC612FB8622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5F1990B-C726-6FFF-E581-0A76CA377DAE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5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401" y="4799832"/>
            <a:ext cx="7315200" cy="56830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401" y="612460"/>
            <a:ext cx="7315200" cy="4114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401" y="5368133"/>
            <a:ext cx="7315200" cy="8044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0DAAAA0-F8BC-9A49-5879-57DBE8DC1DB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84EA500-6E35-EDD4-504B-414E6ECE1F6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9CBF6C8-5E1D-4148-FDBF-68D7E1F4EDF2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DEB04AE-8A6D-2922-481A-880A93E0A67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023828E-EF42-1331-085E-BC051E4A076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01F0B7F-9A25-CDA9-17C1-F6B5FF5A0501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9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22241" y="326389"/>
            <a:ext cx="2828160" cy="55447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5840" y="326389"/>
            <a:ext cx="8302080" cy="55447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0935534-195B-89CF-9751-80C541B3E03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85C63FA-69E4-68B2-DC42-3CCB5DFFEAC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7EA3C29-073D-76BF-213B-2F8CBD164E3E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0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920" y="2131129"/>
            <a:ext cx="10364160" cy="14687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61" y="3885945"/>
            <a:ext cx="8534400" cy="1752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72F6CB-ADEC-A4EA-A391-A66101B6A59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9CC198-D93B-A707-FA78-B5A2AD13F76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2B8F20-4A34-3FED-8C5E-15DEC82EB2E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6A537-C5D8-4343-A889-0FEB570D94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608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520888-0BC2-DF7B-8A36-9326DFEA1F8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806021-0127-7E95-359E-8EDA0896B82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91366B-B9B3-4258-0BA1-9DB37938BC0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8E4EE-887D-4ECF-8A4B-FDB09A06EA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725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840" y="4406247"/>
            <a:ext cx="10362240" cy="136315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840" y="2906778"/>
            <a:ext cx="10362240" cy="149946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64446C-F64B-2620-9E33-329BCB41105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FF1C7-D7FB-E802-DE19-93A4427897E3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C7380A-E55C-1A7E-7710-67B353BA030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3AB9F-25F5-46FB-BE88-FE74DC5948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0322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2800" y="3809147"/>
            <a:ext cx="5347200" cy="22808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4321" y="3809147"/>
            <a:ext cx="5347200" cy="22808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08B3F-6BFE-487F-72B1-C2E7AD29843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208121-0C75-5E2C-6991-964882B4A49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E1E283-BE04-29C1-FC7A-83A285EC782C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CEEF2-7A3E-4ED7-B4B0-5ACCFD6F4C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271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563" y="274552"/>
            <a:ext cx="10972800" cy="114235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0560" y="1535946"/>
            <a:ext cx="538560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560" y="2175286"/>
            <a:ext cx="538560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923" y="1535946"/>
            <a:ext cx="538944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923" y="2175286"/>
            <a:ext cx="538944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5E2DDF2-E6F9-8EB0-6FE2-3BC80097051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2E4724-9580-0AAE-5EF7-5DD7BD8BB0D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F55CE3-5CE9-BC09-8A6D-13075DCD45A6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81E8E-DEF0-4461-8765-C8F7BF8AC9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038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376F30-15A8-7D00-6512-AB99614393D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AFA3F3-4B25-EB77-66F0-E674433389C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F55321A-0DC1-4F68-F768-D2476C82FCB1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13A64-9446-4744-BA2E-F281FC947F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885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613737F-4B8F-DBBD-AD5C-D08D91A2374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FE487D4-E37F-9091-C327-EA3D9F6D3DB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14EBD8-BE12-13DC-9A45-8C98E5A8184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57AAB7-8A40-4BDC-AE30-3BC1DCD9A1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61641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560" y="272630"/>
            <a:ext cx="4010880" cy="116156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364" y="272630"/>
            <a:ext cx="6816000" cy="585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0560" y="1434190"/>
            <a:ext cx="4010880" cy="46923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8A380-98C8-8C09-6812-0406FD788C8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83FA67-7086-30A4-D51A-90F3A1E8DBD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1D1D05-22B4-2B36-98E5-EDEE86A7E0D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A3516-F2A2-4D26-84B6-84A13D16AE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0317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404" y="4799832"/>
            <a:ext cx="7315200" cy="56830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404" y="612460"/>
            <a:ext cx="7315200" cy="4114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404" y="5368134"/>
            <a:ext cx="7315200" cy="8044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CB426-3551-CBBF-9A8C-115177F1ED3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C37A6-EDFA-807C-9AEE-62C7A7AE7A3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32EF51-EF4B-5A24-80B8-57A61993FB23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4827D-F186-40F7-B0CC-B48EB1788C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470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01871E-F70C-BF17-A3B9-C74A82C8DBE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EE136F-1A42-DDAE-71BE-905C08C481B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06E881-EB4C-FC05-4109-F1361669BFB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0CCDC-F425-4307-A945-7508FF19D4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776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9040" y="2613029"/>
            <a:ext cx="2774400" cy="34769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5840" y="2613029"/>
            <a:ext cx="8138880" cy="34769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4D9E68-BC2E-87A3-C2A8-933B24E07BE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7BC2DC-0CA3-B812-D2A3-54FFCC6DE58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5138B0-7760-E5EC-FE1C-F7B160BB56EB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F0364-1529-4BD8-A8FD-CD856C1B3F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19706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40" y="2613030"/>
            <a:ext cx="11097600" cy="8658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4E860FD-7C26-F013-CB7F-6AE22742988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21781E4-5DF3-BC01-248A-C3624BEF5BD5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2241F2E-BE20-A4D1-DF78-300BE17D00F1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42E44-20A1-4892-996A-6FF5456E9A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98264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EED6CD-A0DC-E7BD-3718-DA870E8488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E598D-8586-431A-A89A-900132F1B908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AE7D05-63D7-E173-6771-ABD9CA1227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4C532D-CC64-6401-98B8-B4AFA2E5D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79095-81B6-4AAD-A10B-7D0A7191E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7810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108B60-6322-4B5B-98EE-FBAB8899A4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71F0BC-134B-48FC-AE12-5B1B3BB9C809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362C4B-5C73-E99F-5DD1-A849D87220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EBC796-5D5E-1532-0713-E2645FB92B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6A9DE-5D3C-4897-B6F8-8BE8381098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3529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3AD578-CFDC-FC34-7841-3FA08D60D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20AD6D-13EC-45E4-A750-14889A01C596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F17784-A73A-163F-63FF-3B71DF60A6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9EF388-000E-0C08-F10B-F4685F2AB5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272C4F-7682-429F-B95B-15356200D2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5633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838200"/>
            <a:ext cx="57912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38200"/>
            <a:ext cx="57912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1524B5-09F3-371A-6A5E-FEBBDAECF8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CD6C8-5E45-46D9-946E-28907BB345DB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C362D-6AD9-450F-E07A-502C888FF7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CD6894-9941-42F8-94A5-21FDA0EF54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DE1E3-1743-45E9-85D2-3335C69553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9513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00B062-ECA8-A57C-F0C5-1F72D40F5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48A42-896F-4135-A36A-038F125DB484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EDD0F80-BCAE-6ABC-61D9-F3F8DCDFF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C0E9C98-C643-1006-F61D-D3E85CBBF3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A53C6-4860-4D00-8848-057A0C79E9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7697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FAE1A13-1838-6FC9-4989-6C3278C27E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65B27E-5072-4830-B46D-6E62E4FF3803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2ACBCD-FA19-09EB-CC22-C1F4CC1CE8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9AF5DD-B991-EC32-7FA7-AB28F782D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1174F-B340-4AE6-BCE3-4F3160EF14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20184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96CB9DE-5394-F4A9-5DDC-AC090C9289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CF3CF-CE87-495B-924B-DEF892BDD3A1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8E50BE3-342D-431C-F692-1CDF8138B5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5885B8-FDC1-7C76-43F6-4B5603204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230DE-9CF3-40B3-8871-593404BC23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081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F048F-90A0-592E-F06F-86EBE4CAA1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1798D-667D-45C1-96C7-A44E2DDE4761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DE0A5-5259-4114-B911-4A5F26E8DD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4C5D42-BABC-A826-E7D2-3E5A33DEAA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33C1A-21B8-4840-8970-10011474D2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12232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C9E5D5-800D-B5FC-CEFE-2D1B8DA525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494EB-ED00-46C0-8373-34D961D5CA16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019FB0-31A0-1010-7D04-3DB14C6DC2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B52C67-EFA4-120A-2D0E-3228547F21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697A0-E668-4F83-A9D0-8371A19809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3007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E63983-01FB-1DAD-20D0-87350353E2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525708-8E27-4F05-A944-872B94344174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F4CB98-3751-FA40-1253-E923EE42C6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6DD58B-3115-AAAD-C1A1-F45ED9C33F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77BBB-13E1-4C9A-AF34-4ABE934FC9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1855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152400"/>
            <a:ext cx="2946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3200" y="152400"/>
            <a:ext cx="86360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9FF1EA-62A2-4550-9F42-14FA8390BA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D27A58-5019-4B8D-8FCF-DEBECC794C1B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E309E0-668B-8022-CBFE-073A89ED23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D7DF6D-2E14-369F-6FB3-542497E9DC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913D9-85C1-42D2-96E2-80D150FC2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5940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076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47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194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181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423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070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997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385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232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637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2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D9986ABD-131E-BDFC-49E1-620A2FD8E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217489"/>
            <a:ext cx="11755967" cy="1087437"/>
          </a:xfrm>
          <a:prstGeom prst="rect">
            <a:avLst/>
          </a:prstGeom>
          <a:solidFill>
            <a:srgbClr val="C9211E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  <a:defRPr/>
            </a:pPr>
            <a:endParaRPr lang="en-IN" altLang="en-US" sz="1800">
              <a:latin typeface="Source Sans Pro Semibold" panose="020B06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B651EEF9-BA2B-7CEE-5A09-7089EAC7B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1" y="6203950"/>
            <a:ext cx="3045884" cy="488950"/>
          </a:xfrm>
          <a:prstGeom prst="rect">
            <a:avLst/>
          </a:prstGeom>
          <a:solidFill>
            <a:srgbClr val="C9211E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  <a:defRPr/>
            </a:pPr>
            <a:endParaRPr lang="en-IN" altLang="en-US" sz="1800">
              <a:latin typeface="Source Sans Pro Semibold" panose="020B06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E13F729-DD8A-4283-E5BA-77C673D43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968" y="6203950"/>
            <a:ext cx="7838017" cy="488950"/>
          </a:xfrm>
          <a:prstGeom prst="rect">
            <a:avLst/>
          </a:prstGeom>
          <a:solidFill>
            <a:srgbClr val="B2B2B2"/>
          </a:solidFill>
          <a:ln w="936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  <a:defRPr/>
            </a:pPr>
            <a:endParaRPr lang="en-IN" altLang="en-US" sz="1800">
              <a:latin typeface="Source Sans Pro Semibold" panose="020B06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5009F164-5629-B19F-9120-68B4655C6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18" y="6203950"/>
            <a:ext cx="651933" cy="48895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  <a:defRPr/>
            </a:pPr>
            <a:endParaRPr lang="en-IN" altLang="en-US" sz="1800">
              <a:latin typeface="Source Sans Pro Semibold" panose="020B06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077DB541-8B74-B52D-EB0C-723A363C3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6033" y="327025"/>
            <a:ext cx="11313584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31" name="Rectangle 6">
            <a:extLst>
              <a:ext uri="{FF2B5EF4-FFF2-40B4-BE49-F238E27FC236}">
                <a16:creationId xmlns:a16="http://schemas.microsoft.com/office/drawing/2014/main" id="{4B44B88E-8F35-AD7B-1D00-540B76CAC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6034" y="1631951"/>
            <a:ext cx="11097684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1032" name="Rectangle 7">
            <a:extLst>
              <a:ext uri="{FF2B5EF4-FFF2-40B4-BE49-F238E27FC236}">
                <a16:creationId xmlns:a16="http://schemas.microsoft.com/office/drawing/2014/main" id="{B259E5D5-D4A5-9E21-0F1A-1BD66D85C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18" y="6203950"/>
            <a:ext cx="651933" cy="488950"/>
          </a:xfrm>
          <a:prstGeom prst="rect">
            <a:avLst/>
          </a:prstGeom>
          <a:solidFill>
            <a:srgbClr val="C9211E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  <a:defRPr/>
            </a:pPr>
            <a:endParaRPr lang="en-IN" altLang="en-US" sz="1800">
              <a:latin typeface="Source Sans Pro Semibold" panose="020B06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3E39A35-1657-1B48-9306-2F5D7717AB6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-218017" y="6203950"/>
            <a:ext cx="1519768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b="1">
                <a:solidFill>
                  <a:srgbClr val="FFFFFF"/>
                </a:solidFill>
                <a:latin typeface="Source Sans Pro Black" panose="020B0803030403020204" pitchFamily="34" charset="0"/>
                <a:cs typeface="Segoe UI" panose="020B0502040204020203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243C1ED-3EB7-7ECC-B1F4-B670F97132C8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1087967" y="6203950"/>
            <a:ext cx="7831667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13125CD5-A80E-192B-DABD-DA9BE875B535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9144001" y="6203951"/>
            <a:ext cx="2823633" cy="468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pic>
        <p:nvPicPr>
          <p:cNvPr id="1036" name="Picture 11">
            <a:extLst>
              <a:ext uri="{FF2B5EF4-FFF2-40B4-BE49-F238E27FC236}">
                <a16:creationId xmlns:a16="http://schemas.microsoft.com/office/drawing/2014/main" id="{59863127-DB5F-1865-AFEF-8D7E0DA1F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118" y="217488"/>
            <a:ext cx="2383367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326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2pPr>
      <a:lvl3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3pPr>
      <a:lvl4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4pPr>
      <a:lvl5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9pPr>
    </p:titleStyle>
    <p:bodyStyle>
      <a:lvl1pPr marL="342900" indent="-342900" algn="l" defTabSz="457200" rtl="0" eaLnBrk="1" fontAlgn="base" hangingPunct="1">
        <a:lnSpc>
          <a:spcPct val="104000"/>
        </a:lnSpc>
        <a:spcBef>
          <a:spcPct val="0"/>
        </a:spcBef>
        <a:spcAft>
          <a:spcPts val="863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000" b="1">
          <a:solidFill>
            <a:srgbClr val="1C1C1C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lnSpc>
          <a:spcPct val="104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1700">
          <a:solidFill>
            <a:srgbClr val="1C1C1C"/>
          </a:solidFill>
          <a:latin typeface="Source Sans Pro Light" pitchFamily="32" charset="0"/>
          <a:cs typeface="+mn-cs"/>
        </a:defRPr>
      </a:lvl2pPr>
      <a:lvl3pPr marL="1143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638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1400">
          <a:solidFill>
            <a:srgbClr val="1C1C1C"/>
          </a:solidFill>
          <a:latin typeface="Source Sans Pro Light" pitchFamily="32" charset="0"/>
          <a:cs typeface="+mn-cs"/>
        </a:defRPr>
      </a:lvl3pPr>
      <a:lvl4pPr marL="1600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425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1200">
          <a:solidFill>
            <a:srgbClr val="1C1C1C"/>
          </a:solidFill>
          <a:latin typeface="Source Sans Pro Light" pitchFamily="32" charset="0"/>
          <a:cs typeface="+mn-cs"/>
        </a:defRPr>
      </a:lvl4pPr>
      <a:lvl5pPr marL="20574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1200">
          <a:solidFill>
            <a:srgbClr val="1C1C1C"/>
          </a:solidFill>
          <a:latin typeface="Source Sans Pro Light" pitchFamily="32" charset="0"/>
          <a:cs typeface="+mn-cs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23FCDB94-6C76-2188-EE09-E296B9457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2393951"/>
            <a:ext cx="11755967" cy="1198563"/>
          </a:xfrm>
          <a:prstGeom prst="rect">
            <a:avLst/>
          </a:prstGeom>
          <a:solidFill>
            <a:srgbClr val="C9211E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None/>
              <a:defRPr/>
            </a:pPr>
            <a:endParaRPr lang="en-IN" altLang="en-US">
              <a:latin typeface="Source Sans Pro Semibold" panose="020B06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D323374F-D2D0-BCBF-41C0-F0FCE4130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6034" y="2613025"/>
            <a:ext cx="11097684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BC11A3F6-2967-561B-AD50-8AD547742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1933" y="3808414"/>
            <a:ext cx="10879667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7514C49-84C7-5859-3BF4-8E3ECBC2205E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9144001" y="6203950"/>
            <a:ext cx="2823633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 b="1">
                <a:solidFill>
                  <a:srgbClr val="C9211E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41E519F-C0D1-E510-D308-9CDAF08910D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1305984" y="6203950"/>
            <a:ext cx="3911600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sz="2400" b="1">
                <a:solidFill>
                  <a:srgbClr val="C9211E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E3A855D2-E383-0699-86B7-FD067B119AF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218018" y="6203950"/>
            <a:ext cx="645583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400" b="1">
                <a:solidFill>
                  <a:srgbClr val="C9211E"/>
                </a:solidFill>
                <a:latin typeface="Source Sans Pro Black" panose="020B0803030403020204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231A2A2C-5751-4769-A795-E3D832F4F4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2056" name="Picture 7">
            <a:extLst>
              <a:ext uri="{FF2B5EF4-FFF2-40B4-BE49-F238E27FC236}">
                <a16:creationId xmlns:a16="http://schemas.microsoft.com/office/drawing/2014/main" id="{FE9A7E8B-D791-E22D-FC63-F3624BF1F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834" y="276226"/>
            <a:ext cx="2258484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739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2pPr>
      <a:lvl3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3pPr>
      <a:lvl4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4pPr>
      <a:lvl5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9pPr>
    </p:titleStyle>
    <p:bodyStyle>
      <a:lvl1pPr marL="342900" indent="-342900" algn="l" defTabSz="457200" rtl="0" eaLnBrk="1" fontAlgn="base" hangingPunct="1">
        <a:lnSpc>
          <a:spcPct val="104000"/>
        </a:lnSpc>
        <a:spcBef>
          <a:spcPct val="0"/>
        </a:spcBef>
        <a:spcAft>
          <a:spcPts val="863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000" b="1">
          <a:solidFill>
            <a:srgbClr val="1C1C1C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lnSpc>
          <a:spcPct val="104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1700">
          <a:solidFill>
            <a:srgbClr val="1C1C1C"/>
          </a:solidFill>
          <a:latin typeface="Source Sans Pro Light" pitchFamily="32" charset="0"/>
          <a:cs typeface="+mn-cs"/>
        </a:defRPr>
      </a:lvl2pPr>
      <a:lvl3pPr marL="1143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638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1400">
          <a:solidFill>
            <a:srgbClr val="1C1C1C"/>
          </a:solidFill>
          <a:latin typeface="Source Sans Pro Light" pitchFamily="32" charset="0"/>
          <a:cs typeface="+mn-cs"/>
        </a:defRPr>
      </a:lvl3pPr>
      <a:lvl4pPr marL="1600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425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1200">
          <a:solidFill>
            <a:srgbClr val="1C1C1C"/>
          </a:solidFill>
          <a:latin typeface="Source Sans Pro Light" pitchFamily="32" charset="0"/>
          <a:cs typeface="+mn-cs"/>
        </a:defRPr>
      </a:lvl4pPr>
      <a:lvl5pPr marL="20574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1200">
          <a:solidFill>
            <a:srgbClr val="1C1C1C"/>
          </a:solidFill>
          <a:latin typeface="Source Sans Pro Light" pitchFamily="32" charset="0"/>
          <a:cs typeface="+mn-cs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AFB59B4-B9C1-B2AF-EE38-3DDC66B75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0"/>
            <a:ext cx="11785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3D51656-0A96-B264-2A10-670456783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3200" y="838200"/>
            <a:ext cx="11785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685F32A-6B55-4AFC-F3B7-D712ED2C134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03200" y="6553200"/>
            <a:ext cx="2540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6D4AFB3E-E937-47F0-95ED-2A5FC2CA847B}" type="datetimeFigureOut">
              <a:rPr lang="en-US"/>
              <a:pPr>
                <a:defRPr/>
              </a:pPr>
              <a:t>10/9/2026</a:t>
            </a:fld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43390AA-1AD3-4DFC-12E0-07F25ADD4E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53200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214F6E-DC93-2701-BCE6-30F2186E3A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48800" y="6553200"/>
            <a:ext cx="2540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F2F92D5-00FB-43E8-96AB-A3559E9FFD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55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accent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accent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4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9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252633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2A46"/>
                </a:solidFill>
              </a:defRPr>
            </a:pPr>
            <a:r>
              <a:rPr dirty="0"/>
              <a:t>Build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107" y="3459139"/>
            <a:ext cx="11651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F6368"/>
                </a:solidFill>
              </a:defRPr>
            </a:pPr>
            <a:r>
              <a:rPr sz="2000" b="1" dirty="0" err="1"/>
              <a:t>npm</a:t>
            </a:r>
            <a:r>
              <a:rPr sz="2000" b="1" dirty="0"/>
              <a:t> • Declarative Pipelines • Automated Builds • Automated Testing • Unit Testing &amp;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954" y="4402943"/>
            <a:ext cx="1024128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323"/>
                </a:solidFill>
              </a:rPr>
              <a:t>npm  →  Jenkins  →  Automated Build  →  Automated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8B213A-CC66-9CCC-55D2-F46A444CF424}"/>
              </a:ext>
            </a:extLst>
          </p:cNvPr>
          <p:cNvSpPr txBox="1"/>
          <p:nvPr/>
        </p:nvSpPr>
        <p:spPr>
          <a:xfrm>
            <a:off x="1669312" y="5613991"/>
            <a:ext cx="8601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INT 331 : UNIT 3   					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2399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Outline of lecture </a:t>
            </a:r>
            <a:endParaRPr sz="28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2651" y="1350441"/>
            <a:ext cx="10897309" cy="32316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1. Build Tools Overview — </a:t>
            </a:r>
            <a:r>
              <a:rPr dirty="0" err="1"/>
              <a:t>npm</a:t>
            </a:r>
            <a:endParaRPr dirty="0"/>
          </a:p>
          <a:p>
            <a:pPr lvl="1">
              <a:spcAft>
                <a:spcPts val="5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2. </a:t>
            </a:r>
            <a:r>
              <a:rPr dirty="0" err="1"/>
              <a:t>npm</a:t>
            </a:r>
            <a:r>
              <a:rPr dirty="0"/>
              <a:t>: Need, challenges before </a:t>
            </a:r>
            <a:r>
              <a:rPr dirty="0" err="1"/>
              <a:t>npm</a:t>
            </a:r>
            <a:r>
              <a:rPr dirty="0"/>
              <a:t>, architecture, lifecycle &amp; best practices</a:t>
            </a:r>
          </a:p>
          <a:p>
            <a:pPr lvl="1">
              <a:spcAft>
                <a:spcPts val="5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3. </a:t>
            </a:r>
            <a:r>
              <a:rPr dirty="0" err="1"/>
              <a:t>npm</a:t>
            </a:r>
            <a:r>
              <a:rPr dirty="0"/>
              <a:t> vs Maven vs Gradle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4. Jenkins: Introduction &amp; architecture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5. Writing Jenkins Declarative Pipelines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6. Automated Builds &amp; Automated Testing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7. Test Automation Basics — Unit Testing &amp; Coverage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8. End-to-end CI/CD workflow and practical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Build Tools &amp; CI/CD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1230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chemeClr val="bg1"/>
                </a:solidFill>
              </a:rPr>
              <a:t>1. Build Tools Overview — What is </a:t>
            </a:r>
            <a:r>
              <a:rPr sz="2800" b="1" dirty="0" err="1">
                <a:solidFill>
                  <a:schemeClr val="bg1"/>
                </a:solidFill>
              </a:rPr>
              <a:t>npm</a:t>
            </a:r>
            <a:r>
              <a:rPr sz="28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npm in one sentence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Why it matters in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392415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800" dirty="0" err="1"/>
              <a:t>npm</a:t>
            </a:r>
            <a:r>
              <a:rPr sz="2800" dirty="0"/>
              <a:t> = Node Package Manager</a:t>
            </a:r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800" dirty="0"/>
              <a:t>Default package manager for Node.js projects</a:t>
            </a:r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800" dirty="0"/>
              <a:t>Installs, updates and removes JavaScript packages</a:t>
            </a:r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800" dirty="0"/>
              <a:t>Runs project scripts such as build, test and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4937760" cy="34932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800" dirty="0"/>
              <a:t>Makes builds repeatable</a:t>
            </a:r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800" dirty="0"/>
              <a:t>Manages dependency versions</a:t>
            </a:r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800" dirty="0"/>
              <a:t>Supports automation through scripts</a:t>
            </a:r>
          </a:p>
          <a:p>
            <a:pPr marL="457200" indent="-4572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800" dirty="0"/>
              <a:t>Integrates naturally with CI/CD systems such as Jenkins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npm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2097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chemeClr val="bg1"/>
                </a:solidFill>
              </a:rPr>
              <a:t>Why Do We Need </a:t>
            </a:r>
            <a:r>
              <a:rPr sz="2800" b="1" dirty="0" err="1">
                <a:solidFill>
                  <a:schemeClr val="bg1"/>
                </a:solidFill>
              </a:rPr>
              <a:t>npm</a:t>
            </a:r>
            <a:r>
              <a:rPr sz="28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29495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32323"/>
                </a:solidFill>
              </a:defRPr>
            </a:pPr>
            <a:r>
              <a:rPr sz="2400" dirty="0"/>
              <a:t>Modern JavaScript applications depend on hundreds of reusable packages.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32323"/>
                </a:solidFill>
              </a:defRPr>
            </a:pPr>
            <a:r>
              <a:rPr sz="2400" dirty="0"/>
              <a:t>Manual downloading and configuration does not scale.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32323"/>
                </a:solidFill>
              </a:defRPr>
            </a:pPr>
            <a:r>
              <a:rPr sz="2400" dirty="0"/>
              <a:t>Different developers can accidentally use different dependency versions.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32323"/>
                </a:solidFill>
              </a:defRPr>
            </a:pPr>
            <a:r>
              <a:rPr sz="2400" dirty="0"/>
              <a:t>A project needs a machine-readable definition of dependencies and scripts.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32323"/>
                </a:solidFill>
              </a:defRPr>
            </a:pPr>
            <a:r>
              <a:rPr sz="2400" dirty="0"/>
              <a:t>CI servers need a predictable command such as </a:t>
            </a:r>
            <a:r>
              <a:rPr sz="2400" dirty="0" err="1"/>
              <a:t>npm</a:t>
            </a:r>
            <a:r>
              <a:rPr sz="2400" dirty="0"/>
              <a:t> ci &amp;&amp; </a:t>
            </a:r>
            <a:r>
              <a:rPr sz="2400" dirty="0" err="1"/>
              <a:t>npm</a:t>
            </a:r>
            <a:r>
              <a:rPr sz="2400" dirty="0"/>
              <a:t> test.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232323"/>
                </a:solidFill>
              </a:defRPr>
            </a:pPr>
            <a:r>
              <a:rPr sz="2400" dirty="0" err="1"/>
              <a:t>npm</a:t>
            </a:r>
            <a:r>
              <a:rPr sz="2400" dirty="0"/>
              <a:t> provides a common workflow for package management + project scripts.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5440680"/>
            <a:ext cx="9875520" cy="5943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323"/>
                </a:solidFill>
              </a:rPr>
              <a:t>Goal: Same source + same dependency definition → repeatable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npm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2001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chemeClr val="bg1"/>
                </a:solidFill>
              </a:rPr>
              <a:t>Challenges Before </a:t>
            </a:r>
            <a:r>
              <a:rPr sz="2800" b="1" dirty="0" err="1">
                <a:solidFill>
                  <a:schemeClr val="bg1"/>
                </a:solidFill>
              </a:rPr>
              <a:t>npm</a:t>
            </a:r>
            <a:endParaRPr sz="2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5F6368"/>
                </a:solidFill>
              </a:rPr>
              <a:t>Why package management became 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246120" cy="566928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323"/>
                </a:solidFill>
              </a:rPr>
              <a:t>Manual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0280"/>
            <a:ext cx="288036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Download libraries manually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Copy files into projects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Hard to track versions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63040"/>
            <a:ext cx="3246120" cy="566928"/>
          </a:xfrm>
          <a:prstGeom prst="roundRect">
            <a:avLst/>
          </a:prstGeom>
          <a:solidFill>
            <a:srgbClr val="F4CCC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232323"/>
                </a:solidFill>
              </a:rPr>
              <a:t>Version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3672" y="2240280"/>
            <a:ext cx="288036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Different versions on machines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Dependency conflicts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Difficult reproducibility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63040"/>
            <a:ext cx="3246120" cy="566928"/>
          </a:xfrm>
          <a:prstGeom prst="roundRect">
            <a:avLst/>
          </a:prstGeom>
          <a:solidFill>
            <a:srgbClr val="EBE2F5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dirty="0">
                <a:solidFill>
                  <a:srgbClr val="232323"/>
                </a:solidFill>
              </a:rPr>
              <a:t>Weak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240280"/>
            <a:ext cx="288036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No standard project scripts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Build steps differ by developer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CI integration becomes fragile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303520"/>
            <a:ext cx="996696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rgbClr val="232323"/>
                </a:solidFill>
              </a:rPr>
              <a:t>npm</a:t>
            </a:r>
            <a:r>
              <a:rPr sz="1800" b="1" dirty="0">
                <a:solidFill>
                  <a:srgbClr val="232323"/>
                </a:solidFill>
              </a:rPr>
              <a:t> addresses these through </a:t>
            </a:r>
            <a:r>
              <a:rPr sz="1800" b="1" dirty="0" err="1">
                <a:solidFill>
                  <a:srgbClr val="232323"/>
                </a:solidFill>
              </a:rPr>
              <a:t>package.json</a:t>
            </a:r>
            <a:r>
              <a:rPr sz="1800" b="1" dirty="0">
                <a:solidFill>
                  <a:srgbClr val="232323"/>
                </a:solidFill>
              </a:rPr>
              <a:t>, lock files, registries and scripts.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npm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1481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chemeClr val="bg1"/>
                </a:solidFill>
              </a:rPr>
              <a:t>npm</a:t>
            </a:r>
            <a:r>
              <a:rPr sz="2800" b="1" dirty="0">
                <a:solidFill>
                  <a:schemeClr val="bg1"/>
                </a:solidFill>
              </a:rPr>
              <a:t>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2011680" cy="9144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Developer / CI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2240280"/>
            <a:ext cx="1737360" cy="9144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npm CLI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325880"/>
            <a:ext cx="2057400" cy="9144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package.json
+ lock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3154680"/>
            <a:ext cx="2057400" cy="914400"/>
          </a:xfrm>
          <a:prstGeom prst="roundRect">
            <a:avLst/>
          </a:prstGeom>
          <a:solidFill>
            <a:srgbClr val="EBE2F5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npm Registry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240280"/>
            <a:ext cx="2194560" cy="9144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node_modules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697480"/>
            <a:ext cx="45720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800600" y="1783080"/>
            <a:ext cx="457200" cy="9144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00600" y="2697480"/>
            <a:ext cx="457200" cy="9144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315200" y="2697480"/>
            <a:ext cx="914400" cy="9144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1783080"/>
            <a:ext cx="914400" cy="91440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57300" y="4160520"/>
            <a:ext cx="10058400" cy="19543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500">
                <a:solidFill>
                  <a:srgbClr val="232323"/>
                </a:solidFill>
              </a:defRPr>
            </a:pPr>
            <a:r>
              <a:rPr sz="2400" dirty="0" err="1"/>
              <a:t>package.json</a:t>
            </a:r>
            <a:r>
              <a:rPr sz="2400" dirty="0"/>
              <a:t> → declares dependencies, scripts and project metadata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500">
                <a:solidFill>
                  <a:srgbClr val="232323"/>
                </a:solidFill>
              </a:defRPr>
            </a:pPr>
            <a:r>
              <a:rPr sz="2400" dirty="0"/>
              <a:t>package-</a:t>
            </a:r>
            <a:r>
              <a:rPr sz="2400" dirty="0" err="1"/>
              <a:t>lock.json</a:t>
            </a:r>
            <a:r>
              <a:rPr sz="2400" dirty="0"/>
              <a:t> → records the resolved dependency tree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500">
                <a:solidFill>
                  <a:srgbClr val="232323"/>
                </a:solidFill>
              </a:defRPr>
            </a:pPr>
            <a:r>
              <a:rPr sz="2400" dirty="0"/>
              <a:t>Registry → stores and serves packages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500">
                <a:solidFill>
                  <a:srgbClr val="232323"/>
                </a:solidFill>
              </a:defRPr>
            </a:pPr>
            <a:r>
              <a:rPr sz="2400" dirty="0" err="1"/>
              <a:t>node_modules</a:t>
            </a:r>
            <a:r>
              <a:rPr sz="2400" dirty="0"/>
              <a:t> → local installed dependency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npm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9581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chemeClr val="bg1"/>
                </a:solidFill>
              </a:rPr>
              <a:t>npm</a:t>
            </a:r>
            <a:r>
              <a:rPr sz="2800" b="1" dirty="0">
                <a:solidFill>
                  <a:schemeClr val="bg1"/>
                </a:solidFill>
              </a:rPr>
              <a:t> 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3977639"/>
          </a:xfrm>
          <a:prstGeom prst="roundRect">
            <a:avLst/>
          </a:prstGeom>
          <a:solidFill>
            <a:srgbClr val="1E232A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Ins="182880" bIns="91440" rtlCol="0" anchor="ctr"/>
          <a:lstStyle/>
          <a:p>
            <a:pPr algn="ctr"/>
            <a:r>
              <a:rPr sz="1800">
                <a:solidFill>
                  <a:srgbClr val="FFFFFF"/>
                </a:solidFill>
                <a:latin typeface="Consolas"/>
              </a:rPr>
              <a:t>my-app/
├── package.json
├── package-lock.json
├── src/
│   └── index.js
├── test/
│   └── index.test.js
└── node_modules/        # installed dependencies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241280" cy="145680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232323"/>
                </a:solidFill>
              </a:defRPr>
            </a:pPr>
            <a:r>
              <a:rPr sz="2400" dirty="0" err="1"/>
              <a:t>package.json</a:t>
            </a:r>
            <a:r>
              <a:rPr sz="2400" dirty="0"/>
              <a:t> is the project manifest.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232323"/>
                </a:solidFill>
              </a:defRPr>
            </a:pPr>
            <a:r>
              <a:rPr sz="2400" dirty="0"/>
              <a:t>package-</a:t>
            </a:r>
            <a:r>
              <a:rPr sz="2400" dirty="0" err="1"/>
              <a:t>lock.json</a:t>
            </a:r>
            <a:r>
              <a:rPr sz="2400" dirty="0"/>
              <a:t> locks resolved versions for reproducible installs.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  <a:defRPr sz="1500">
                <a:solidFill>
                  <a:srgbClr val="232323"/>
                </a:solidFill>
              </a:defRPr>
            </a:pPr>
            <a:r>
              <a:rPr sz="2400" dirty="0" err="1"/>
              <a:t>node_modules</a:t>
            </a:r>
            <a:r>
              <a:rPr sz="2400" dirty="0"/>
              <a:t> is generated locally/CI; normally it is not committed to 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npm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6543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chemeClr val="bg1"/>
                </a:solidFill>
              </a:rPr>
              <a:t>npm</a:t>
            </a:r>
            <a:r>
              <a:rPr sz="2800" b="1" dirty="0">
                <a:solidFill>
                  <a:schemeClr val="bg1"/>
                </a:solidFill>
              </a:rPr>
              <a:t> Lifecycle &amp; Common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920240" cy="685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init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1901952"/>
            <a:ext cx="32004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1554480"/>
            <a:ext cx="1920240" cy="685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install / ci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901952"/>
            <a:ext cx="32004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83480" y="1554480"/>
            <a:ext cx="1920240" cy="685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232323"/>
                </a:solidFill>
              </a:rPr>
              <a:t>build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03720" y="1901952"/>
            <a:ext cx="32004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23760" y="1554480"/>
            <a:ext cx="1920240" cy="685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test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1901952"/>
            <a:ext cx="32004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554480"/>
            <a:ext cx="1920240" cy="68580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43200"/>
            <a:ext cx="10241280" cy="2560320"/>
          </a:xfrm>
          <a:prstGeom prst="roundRect">
            <a:avLst/>
          </a:prstGeom>
          <a:solidFill>
            <a:srgbClr val="1E232A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Ins="182880" bIns="9144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Consolas"/>
              </a:rPr>
              <a:t>npm init
npm install
npm ci
npm run build
npm test
npm run lint
npm publish
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npm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npm Lifecycle: Important Distinction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npm install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npm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219547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400" dirty="0"/>
              <a:t>Installs dependencies from </a:t>
            </a:r>
            <a:r>
              <a:rPr sz="2400" dirty="0" err="1"/>
              <a:t>package.json</a:t>
            </a:r>
            <a:endParaRPr sz="24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400" dirty="0"/>
              <a:t>May update package-</a:t>
            </a:r>
            <a:r>
              <a:rPr sz="2400" dirty="0" err="1"/>
              <a:t>lock.json</a:t>
            </a:r>
            <a:r>
              <a:rPr sz="2400" dirty="0"/>
              <a:t> when dependency resolution changes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400" dirty="0"/>
              <a:t>Useful during local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4937760" cy="25648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400" dirty="0"/>
              <a:t>Designed for clean, reproducible CI installs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400" dirty="0"/>
              <a:t>Uses package-</a:t>
            </a:r>
            <a:r>
              <a:rPr sz="2400" dirty="0" err="1"/>
              <a:t>lock.json</a:t>
            </a:r>
            <a:r>
              <a:rPr sz="2400" dirty="0"/>
              <a:t> as the source of truth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323"/>
                </a:solidFill>
              </a:defRPr>
            </a:pPr>
            <a:r>
              <a:rPr sz="2400" dirty="0"/>
              <a:t>Removes existing </a:t>
            </a:r>
            <a:r>
              <a:rPr sz="2400" dirty="0" err="1"/>
              <a:t>node_modules</a:t>
            </a:r>
            <a:r>
              <a:rPr sz="2400" dirty="0"/>
              <a:t> before installation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5349240"/>
            <a:ext cx="10058400" cy="6400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323"/>
                </a:solidFill>
              </a:rPr>
              <a:t>CI recommendation: prefer npm ci when a lock file is committed.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npm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192A46"/>
                </a:solidFill>
              </a:rPr>
              <a:t>npm</a:t>
            </a:r>
            <a:r>
              <a:rPr sz="2800" b="1" dirty="0">
                <a:solidFill>
                  <a:srgbClr val="192A46"/>
                </a:solidFill>
              </a:rPr>
              <a:t>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517064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sz="2800" dirty="0"/>
              <a:t>Commit package-</a:t>
            </a:r>
            <a:r>
              <a:rPr sz="2800" dirty="0" err="1"/>
              <a:t>lock.json</a:t>
            </a:r>
            <a:r>
              <a:rPr sz="2800" dirty="0"/>
              <a:t> for applications to make dependency resolution reproducible.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sz="2800" dirty="0"/>
              <a:t>Use </a:t>
            </a:r>
            <a:r>
              <a:rPr sz="2800" dirty="0" err="1"/>
              <a:t>npm</a:t>
            </a:r>
            <a:r>
              <a:rPr sz="2800" dirty="0"/>
              <a:t> ci in CI pipelines when package-</a:t>
            </a:r>
            <a:r>
              <a:rPr sz="2800" dirty="0" err="1"/>
              <a:t>lock.json</a:t>
            </a:r>
            <a:r>
              <a:rPr sz="2800" dirty="0"/>
              <a:t> is present.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sz="2800" dirty="0"/>
              <a:t>Keep </a:t>
            </a:r>
            <a:r>
              <a:rPr sz="2800" dirty="0" err="1"/>
              <a:t>node_modules</a:t>
            </a:r>
            <a:r>
              <a:rPr sz="2800" dirty="0"/>
              <a:t> out of source control.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sz="2800" dirty="0"/>
              <a:t>Pin or constrain dependency versions intentionally; review major upgrades.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sz="2800" dirty="0"/>
              <a:t>Run linting, unit tests and security/dependency checks in CI.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sz="2800" dirty="0"/>
              <a:t>Use </a:t>
            </a:r>
            <a:r>
              <a:rPr sz="2800" dirty="0" err="1"/>
              <a:t>npm</a:t>
            </a:r>
            <a:r>
              <a:rPr sz="2800" dirty="0"/>
              <a:t> scripts to standardize build, test and quality commands.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32323"/>
                </a:solidFill>
              </a:defRPr>
            </a:pPr>
            <a:r>
              <a:rPr sz="2800" dirty="0"/>
              <a:t>Use private registries/scoped packages where organizational controls require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npm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npm vs Maven vs Gradle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368"/>
                </a:solidFill>
              </a:rPr>
              <a:t>Different ecosystems, similar build-automation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90211"/>
              </p:ext>
            </p:extLst>
          </p:nvPr>
        </p:nvGraphicFramePr>
        <p:xfrm>
          <a:off x="548640" y="1417320"/>
          <a:ext cx="11064240" cy="448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npm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Maven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Gradle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Primary ecosystem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JavaScript / Node.js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Java / JVM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Java / JVM + multi-language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Build 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 err="1"/>
                        <a:t>package.json</a:t>
                      </a:r>
                      <a:r>
                        <a:rPr sz="2000" dirty="0"/>
                        <a:t> + scripts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pom.xml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build.gradle / build.gradle.kts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Dependency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 err="1"/>
                        <a:t>npm</a:t>
                      </a:r>
                      <a:r>
                        <a:rPr sz="2000" dirty="0"/>
                        <a:t> registry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Maven repositories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Maven/Ivy + plugins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Style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JSON + scripts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XML conventions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Groovy/Kotlin DSL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Typical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Web/Node apps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Enterprise Java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Flexible/high-performance JVM builds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6080760"/>
            <a:ext cx="10332720" cy="4114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232323"/>
                </a:solidFill>
              </a:rPr>
              <a:t>Common idea: declare dependencies + define repeatable build/test tasks + automate them in 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Build Tools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rPr dirty="0"/>
              <a:t>What is an Automated Build?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251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rPr sz="1600" b="1" dirty="0">
                <a:solidFill>
                  <a:schemeClr val="bg1"/>
                </a:solidFill>
              </a:rPr>
              <a:t>Turning source code into a repeatable, verified build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6949"/>
            <a:ext cx="566928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A build starts automatically after a repository change, schedule or manual trigger.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Jenkins checks out the correct revision and invokes the project's build tool.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Common tools: Maven/Gradle for Java, </a:t>
            </a:r>
            <a:r>
              <a:rPr b="1" dirty="0" err="1"/>
              <a:t>npm</a:t>
            </a:r>
            <a:r>
              <a:rPr b="1" dirty="0"/>
              <a:t> for JavaScript, dotnet for .NET, Docker for images.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A successful build should produce a traceable artifact or package.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Build failures should stop downstream stages unless explicitly configured otherwise.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2011680"/>
            <a:ext cx="1051560" cy="155448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93992" y="2121408"/>
            <a:ext cx="722375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t>Git Push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Commit</a:t>
            </a:r>
            <a:br/>
            <a:r>
              <a:t>arrives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80960" y="2788920"/>
            <a:ext cx="201168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09560" y="2011680"/>
            <a:ext cx="1051560" cy="155448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74152" y="2121408"/>
            <a:ext cx="722375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t>Jenkins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Pipeline</a:t>
            </a:r>
            <a:br/>
            <a:r>
              <a:t>starts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0" y="2788920"/>
            <a:ext cx="201168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89720" y="2011680"/>
            <a:ext cx="1051560" cy="155448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54312" y="2121408"/>
            <a:ext cx="722375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t>Build Tool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Compile /</a:t>
            </a:r>
            <a:br/>
            <a:r>
              <a:t>package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41280" y="2788920"/>
            <a:ext cx="201168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469880" y="2011680"/>
            <a:ext cx="1051560" cy="1554480"/>
          </a:xfrm>
          <a:prstGeom prst="roundRect">
            <a:avLst/>
          </a:prstGeom>
          <a:solidFill>
            <a:srgbClr val="EEE7F9"/>
          </a:solidFill>
          <a:ln>
            <a:solidFill>
              <a:srgbClr val="69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34472" y="2121408"/>
            <a:ext cx="722375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t>Artifact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JAR / image /</a:t>
            </a:r>
            <a:br/>
            <a:r>
              <a:t>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Automated Builds  •  DevOps &amp; CI/CD  | 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4. Automated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7093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chemeClr val="bg1"/>
                </a:solidFill>
              </a:rPr>
              <a:t>Build whenever the source changes — without manual repetition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82128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sz="2400" dirty="0"/>
              <a:t>Source change is detected through webhook, polling or scheduled trigger.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sz="2400" dirty="0"/>
              <a:t>Jenkins checks out the exact revision to build.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sz="2400" dirty="0"/>
              <a:t>Dependencies are installed using the project's package/build tool.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sz="2400" dirty="0"/>
              <a:t>Compilation/</a:t>
            </a:r>
            <a:r>
              <a:rPr sz="2400" dirty="0" err="1"/>
              <a:t>transpilation</a:t>
            </a:r>
            <a:r>
              <a:rPr sz="2400" dirty="0"/>
              <a:t>/bundling and packaging are executed automatically.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sz="2400" dirty="0"/>
              <a:t>Build artifacts are archived or passed to the next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83480"/>
            <a:ext cx="2148840" cy="6400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Git Push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5303520"/>
            <a:ext cx="59436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4983480"/>
            <a:ext cx="2148840" cy="6400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Jenkins Trigger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5303520"/>
            <a:ext cx="5943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9360" y="4983480"/>
            <a:ext cx="2148840" cy="6400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npm/Maven/Gradle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58200" y="5303520"/>
            <a:ext cx="5943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0" y="4983480"/>
            <a:ext cx="2148840" cy="64008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Artifact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Automated Builds   • 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32108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Build Triggers and Pipeline Checkout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41732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35607"/>
            <a:ext cx="309981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Webhook / SCM Trigger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Git provider notifies Jenkins immediately after a push or pull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71800"/>
            <a:ext cx="3429000" cy="141732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3081528"/>
            <a:ext cx="309981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Scheduled Trigger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Cron-style schedule runs a pipeline at defined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617720"/>
            <a:ext cx="3429000" cy="114300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4727448"/>
            <a:ext cx="309981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Manual Trigger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Useful for controlled releases, demos and troubleshooting.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657600" cy="4389120"/>
          </a:xfrm>
          <a:prstGeom prst="roundRect">
            <a:avLst/>
          </a:prstGeom>
          <a:solidFill>
            <a:srgbClr val="1C2026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64024" y="1935060"/>
            <a:ext cx="332841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pipeline {</a:t>
            </a:r>
            <a:br>
              <a:rPr dirty="0"/>
            </a:br>
            <a:r>
              <a:rPr dirty="0"/>
              <a:t>    agent any</a:t>
            </a:r>
            <a:br>
              <a:rPr dirty="0"/>
            </a:br>
            <a:r>
              <a:rPr dirty="0"/>
              <a:t>    triggers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pollSCM</a:t>
            </a:r>
            <a:r>
              <a:rPr dirty="0"/>
              <a:t>('H/5 * * * *')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stages {</a:t>
            </a:r>
            <a:br>
              <a:rPr dirty="0"/>
            </a:br>
            <a:r>
              <a:rPr dirty="0"/>
              <a:t>        stage('Checkout') {</a:t>
            </a:r>
            <a:br>
              <a:rPr dirty="0"/>
            </a:br>
            <a:r>
              <a:rPr dirty="0"/>
              <a:t>            steps {</a:t>
            </a:r>
            <a:br>
              <a:rPr dirty="0"/>
            </a:br>
            <a:r>
              <a:rPr dirty="0"/>
              <a:t>                checkout </a:t>
            </a:r>
            <a:r>
              <a:rPr dirty="0" err="1"/>
              <a:t>scm</a:t>
            </a:r>
            <a:br>
              <a:rPr dirty="0"/>
            </a:br>
            <a:r>
              <a:rPr dirty="0"/>
              <a:t>            }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463040"/>
            <a:ext cx="3108960" cy="1325880"/>
          </a:xfrm>
          <a:prstGeom prst="roundRect">
            <a:avLst/>
          </a:prstGeom>
          <a:solidFill>
            <a:srgbClr val="EEE7F9"/>
          </a:solidFill>
          <a:ln>
            <a:solidFill>
              <a:srgbClr val="69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31352" y="1572768"/>
            <a:ext cx="2779776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Build inputs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Source code + dependencies + build configuration.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063240"/>
            <a:ext cx="3108960" cy="1325880"/>
          </a:xfrm>
          <a:prstGeom prst="roundRect">
            <a:avLst/>
          </a:prstGeom>
          <a:solidFill>
            <a:srgbClr val="FAE5E5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3172968"/>
            <a:ext cx="2779776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Build output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Versioned artifact that later stages can consume.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4663440"/>
            <a:ext cx="310896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31352" y="4773168"/>
            <a:ext cx="277977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Best practice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Pin versions where reproducibility matters.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Automated Builds  •  DevOps &amp; CI/CD  | 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Automated Build Example — npm + Jenkins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4160520"/>
          </a:xfrm>
          <a:prstGeom prst="roundRect">
            <a:avLst/>
          </a:prstGeom>
          <a:solidFill>
            <a:srgbClr val="1E232A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Ins="182880" bIns="91440" rtlCol="0" anchor="ctr"/>
          <a:lstStyle/>
          <a:p>
            <a:pPr algn="ctr"/>
            <a:r>
              <a:rPr sz="1700" dirty="0">
                <a:solidFill>
                  <a:srgbClr val="FFFFFF"/>
                </a:solidFill>
                <a:latin typeface="Consolas"/>
              </a:rPr>
              <a:t>stage('Build') {
    steps {
        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sh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'node --version'
        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sh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'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npm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--version'
        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sh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'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npm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ci'
        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sh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'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npm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run build'
    }
}
post {
    success {
        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archiveArtifacts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artifacts: '</a:t>
            </a:r>
            <a:r>
              <a:rPr sz="1700" dirty="0" err="1">
                <a:solidFill>
                  <a:srgbClr val="FFFFFF"/>
                </a:solidFill>
                <a:latin typeface="Consolas"/>
              </a:rPr>
              <a:t>dist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/**', fingerprint: true
    }
}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2412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rPr dirty="0" err="1"/>
              <a:t>npm</a:t>
            </a:r>
            <a:r>
              <a:rPr dirty="0"/>
              <a:t> ci → deterministic dependency installation from lock file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rPr dirty="0" err="1"/>
              <a:t>npm</a:t>
            </a:r>
            <a:r>
              <a:rPr dirty="0"/>
              <a:t> run build → project-specific build script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rPr dirty="0" err="1"/>
              <a:t>archiveArtifacts</a:t>
            </a:r>
            <a:r>
              <a:rPr dirty="0"/>
              <a:t> → retain generated files as Jenkins build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Automated Builds   •  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5. Automated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52214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chemeClr val="bg1"/>
                </a:solidFill>
              </a:rPr>
              <a:t>Tests become a repeatable pipeline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60020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Code 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011680"/>
            <a:ext cx="1600200" cy="7315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011680"/>
            <a:ext cx="1600200" cy="731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Unit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011680"/>
            <a:ext cx="1600200" cy="731520"/>
          </a:xfrm>
          <a:prstGeom prst="roundRect">
            <a:avLst/>
          </a:prstGeom>
          <a:solidFill>
            <a:srgbClr val="EBE2F5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011680"/>
            <a:ext cx="1600200" cy="731520"/>
          </a:xfrm>
          <a:prstGeom prst="roundRect">
            <a:avLst/>
          </a:prstGeom>
          <a:solidFill>
            <a:srgbClr val="F4CCC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</a:rPr>
              <a:t>Quality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61320" y="2011680"/>
            <a:ext cx="1143000" cy="731520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323"/>
                </a:solidFill>
              </a:rPr>
              <a:t>Deploy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37744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237744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26480" y="237744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38160" y="2377440"/>
            <a:ext cx="411480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49840" y="2377440"/>
            <a:ext cx="411479" cy="0"/>
          </a:xfrm>
          <a:prstGeom prst="line">
            <a:avLst/>
          </a:prstGeom>
          <a:ln w="254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429000"/>
            <a:ext cx="10241280" cy="1708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sz="2000" b="1" dirty="0"/>
              <a:t>Automated tests provide fast feedback after code changes.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sz="2000" b="1" dirty="0"/>
              <a:t>A failing test can stop the pipeline before deployment.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sz="2000" b="1" dirty="0"/>
              <a:t>Coverage reports show which parts of the code were exercised by tests.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sz="2000" b="1" dirty="0"/>
              <a:t>Testing should be repeatable and independent of a developer's machine.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Automated Testing   • 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Automated Build Pipeline: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486400" cy="4800600"/>
          </a:xfrm>
          <a:prstGeom prst="roundRect">
            <a:avLst/>
          </a:prstGeom>
          <a:solidFill>
            <a:srgbClr val="1C2026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5157216" cy="4581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rPr dirty="0"/>
              <a:t>pipeline {</a:t>
            </a:r>
            <a:br>
              <a:rPr dirty="0"/>
            </a:br>
            <a:r>
              <a:rPr dirty="0"/>
              <a:t>  agent any</a:t>
            </a:r>
            <a:br>
              <a:rPr dirty="0"/>
            </a:br>
            <a:br>
              <a:rPr dirty="0"/>
            </a:br>
            <a:r>
              <a:rPr dirty="0"/>
              <a:t>  stages {</a:t>
            </a:r>
            <a:br>
              <a:rPr dirty="0"/>
            </a:br>
            <a:r>
              <a:rPr dirty="0"/>
              <a:t>    stage('Checkout') {</a:t>
            </a:r>
            <a:br>
              <a:rPr dirty="0"/>
            </a:br>
            <a:r>
              <a:rPr dirty="0"/>
              <a:t>      steps { checkout </a:t>
            </a:r>
            <a:r>
              <a:rPr dirty="0" err="1"/>
              <a:t>scm</a:t>
            </a:r>
            <a:r>
              <a:rPr dirty="0"/>
              <a:t>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stage('Build') {</a:t>
            </a:r>
            <a:br>
              <a:rPr dirty="0"/>
            </a:br>
            <a:r>
              <a:rPr dirty="0"/>
              <a:t>      steps { </a:t>
            </a:r>
            <a:r>
              <a:rPr dirty="0" err="1"/>
              <a:t>sh</a:t>
            </a:r>
            <a:r>
              <a:rPr dirty="0"/>
              <a:t> '</a:t>
            </a:r>
            <a:r>
              <a:rPr dirty="0" err="1"/>
              <a:t>mvn</a:t>
            </a:r>
            <a:r>
              <a:rPr dirty="0"/>
              <a:t> clean package'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stage('Archive') {</a:t>
            </a:r>
            <a:br>
              <a:rPr dirty="0"/>
            </a:br>
            <a:r>
              <a:rPr dirty="0"/>
              <a:t>      steps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archiveArtifacts</a:t>
            </a:r>
            <a:r>
              <a:rPr dirty="0"/>
              <a:t> 'target/*.jar'</a:t>
            </a:r>
            <a:br>
              <a:rPr dirty="0"/>
            </a:br>
            <a:r>
              <a:rPr dirty="0"/>
              <a:t>     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417320"/>
            <a:ext cx="2103120" cy="123444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2552" y="1527048"/>
            <a:ext cx="17739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1. Commit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Developer pushes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417320"/>
            <a:ext cx="2103120" cy="123444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1527048"/>
            <a:ext cx="17739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2. Checkout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Jenkins retrieves revision.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971800"/>
            <a:ext cx="2103120" cy="123444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2" y="3081528"/>
            <a:ext cx="17739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3. Build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Maven compiles and packages.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971800"/>
            <a:ext cx="2103120" cy="1234440"/>
          </a:xfrm>
          <a:prstGeom prst="roundRect">
            <a:avLst/>
          </a:prstGeom>
          <a:solidFill>
            <a:srgbClr val="EEE7F9"/>
          </a:solidFill>
          <a:ln>
            <a:solidFill>
              <a:srgbClr val="69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71432" y="3081528"/>
            <a:ext cx="17739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4. Archive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Artifact is retained by Jenkins.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572000"/>
            <a:ext cx="2103120" cy="1097280"/>
          </a:xfrm>
          <a:prstGeom prst="roundRect">
            <a:avLst/>
          </a:prstGeom>
          <a:solidFill>
            <a:srgbClr val="FAE5E5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4681728"/>
            <a:ext cx="17739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Result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Repeatable build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Automated Builds  •  DevOps &amp; CI/CD  | 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7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5021" y="2103120"/>
            <a:ext cx="399147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</a:defRPr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918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Running tests continuously and using results as CI quality gates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Why Automate Testing in Jenkins?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2719" y="1202323"/>
            <a:ext cx="46554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rPr sz="1600" b="1" dirty="0">
                <a:highlight>
                  <a:srgbClr val="FFFF00"/>
                </a:highlight>
              </a:rPr>
              <a:t>Catch defects early and provide fast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10910"/>
            <a:ext cx="576072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Every change can be validated consistently instead of relying on manual testing.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Automated tests reduce regression risk as the codebase grows.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Jenkins can publish test results and mark builds unstable or failed.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Tests can run on every commit, pull request, nightly schedule or release candidate.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 b="0">
                <a:solidFill>
                  <a:srgbClr val="23282D"/>
                </a:solidFill>
              </a:defRPr>
            </a:pPr>
            <a:r>
              <a:rPr b="1" dirty="0"/>
              <a:t>Automation supports the DevOps feedback loop: code → test → feedback → fix.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828800"/>
            <a:ext cx="1691640" cy="123444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5431" y="1938528"/>
            <a:ext cx="136245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Code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23959" y="1828800"/>
            <a:ext cx="1691640" cy="123444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88551" y="1938528"/>
            <a:ext cx="136245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Build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20840" y="3749039"/>
            <a:ext cx="1691640" cy="123444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5431" y="3858768"/>
            <a:ext cx="136245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Test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23959" y="3749039"/>
            <a:ext cx="1691640" cy="1234440"/>
          </a:xfrm>
          <a:prstGeom prst="roundRect">
            <a:avLst/>
          </a:prstGeom>
          <a:solidFill>
            <a:srgbClr val="EEE7F9"/>
          </a:solidFill>
          <a:ln>
            <a:solidFill>
              <a:srgbClr val="69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88551" y="3858768"/>
            <a:ext cx="136245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rPr dirty="0"/>
              <a:t>Feedback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endParaRPr dirty="0"/>
          </a:p>
        </p:txBody>
      </p:sp>
      <p:cxnSp>
        <p:nvCxnSpPr>
          <p:cNvPr id="14" name="Connector 13"/>
          <p:cNvCxnSpPr/>
          <p:nvPr/>
        </p:nvCxnSpPr>
        <p:spPr>
          <a:xfrm>
            <a:off x="8412480" y="2423160"/>
            <a:ext cx="320040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89720" y="3063240"/>
            <a:ext cx="0" cy="64008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092440" y="4343400"/>
            <a:ext cx="320040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720840" y="3063240"/>
            <a:ext cx="0" cy="64008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Automated Testing  •  DevOps &amp; CI/CD  |  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Adding Tests to a Declarative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A typical Maven/JUnit testing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3383280"/>
          </a:xfrm>
          <a:prstGeom prst="roundRect">
            <a:avLst/>
          </a:prstGeom>
          <a:solidFill>
            <a:srgbClr val="1C2026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4882896" cy="316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rPr dirty="0"/>
              <a:t>stage('Test') {</a:t>
            </a:r>
            <a:br>
              <a:rPr dirty="0"/>
            </a:br>
            <a:r>
              <a:rPr dirty="0"/>
              <a:t>    steps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sh</a:t>
            </a:r>
            <a:r>
              <a:rPr dirty="0"/>
              <a:t> '</a:t>
            </a:r>
            <a:r>
              <a:rPr dirty="0" err="1"/>
              <a:t>mvn</a:t>
            </a:r>
            <a:r>
              <a:rPr dirty="0"/>
              <a:t> test'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post {</a:t>
            </a:r>
            <a:br>
              <a:rPr dirty="0"/>
            </a:br>
            <a:r>
              <a:rPr dirty="0"/>
              <a:t>        always {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junit</a:t>
            </a:r>
            <a:r>
              <a:rPr dirty="0"/>
              <a:t> 'target/surefire-reports/*.xml'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2331720" cy="123444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435607"/>
            <a:ext cx="20025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rPr dirty="0"/>
              <a:t>Run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rPr dirty="0"/>
              <a:t>Build tool executes automated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325880"/>
            <a:ext cx="2331720" cy="123444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1435607"/>
            <a:ext cx="20025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Collect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Jenkins reads JUnit XML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26080"/>
            <a:ext cx="2331720" cy="123444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3035808"/>
            <a:ext cx="20025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Visualize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Pass/fail counts and trends appear in Jenkins.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926080"/>
            <a:ext cx="2331720" cy="1234440"/>
          </a:xfrm>
          <a:prstGeom prst="roundRect">
            <a:avLst/>
          </a:prstGeom>
          <a:solidFill>
            <a:srgbClr val="FAE5E5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71432" y="3035808"/>
            <a:ext cx="20025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Gate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Failures can stop later stages.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72000"/>
            <a:ext cx="493776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400" b="0">
                <a:solidFill>
                  <a:srgbClr val="23282D"/>
                </a:solidFill>
              </a:defRPr>
            </a:pPr>
            <a:r>
              <a:rPr sz="1600" dirty="0"/>
              <a:t>Use stable test report formats supported by Jenkins.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400" b="0">
                <a:solidFill>
                  <a:srgbClr val="23282D"/>
                </a:solidFill>
              </a:defRPr>
            </a:pPr>
            <a:r>
              <a:rPr sz="1600" dirty="0"/>
              <a:t>Keep test data deterministic and independent where possible.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400" b="0">
                <a:solidFill>
                  <a:srgbClr val="23282D"/>
                </a:solidFill>
              </a:defRPr>
            </a:pPr>
            <a:r>
              <a:rPr sz="1600" dirty="0"/>
              <a:t>Separate fast tests from slow integration/end-to-end tests.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Automated Testing  •  DevOps &amp; CI/CD  |  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Test Levels and Jenkins Placement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4235" y="1234440"/>
            <a:ext cx="3840480" cy="86868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38827" y="1344168"/>
            <a:ext cx="351129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2D4B"/>
                </a:solidFill>
              </a:defRPr>
            </a:pPr>
            <a:r>
              <a:t>Unit Tests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Fast • isolated • run frequently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79876" y="2331720"/>
            <a:ext cx="5029200" cy="86868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4468" y="2441448"/>
            <a:ext cx="470001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2D4B"/>
                </a:solidFill>
              </a:defRPr>
            </a:pPr>
            <a:r>
              <a:t>Integration Tests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Verify components work together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5515" y="3429000"/>
            <a:ext cx="6217920" cy="868680"/>
          </a:xfrm>
          <a:prstGeom prst="roundRect">
            <a:avLst/>
          </a:prstGeom>
          <a:solidFill>
            <a:srgbClr val="EEE7F9"/>
          </a:solidFill>
          <a:ln>
            <a:solidFill>
              <a:srgbClr val="69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0108" y="3538728"/>
            <a:ext cx="588873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2D4B"/>
                </a:solidFill>
              </a:defRPr>
            </a:pPr>
            <a:r>
              <a:t>System / API Tests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Validate larger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1155" y="4526279"/>
            <a:ext cx="7406640" cy="868680"/>
          </a:xfrm>
          <a:prstGeom prst="roundRect">
            <a:avLst/>
          </a:prstGeom>
          <a:solidFill>
            <a:srgbClr val="FAE5E5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55747" y="4636007"/>
            <a:ext cx="707745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92D4B"/>
                </a:solidFill>
              </a:defRPr>
            </a:pPr>
            <a:r>
              <a:t>UI / E2E Tests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High confidence • slower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714999"/>
            <a:ext cx="3337560" cy="777239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5824728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t>CI principle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Fast feedback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5715000"/>
            <a:ext cx="3337560" cy="996696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5824728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rPr dirty="0"/>
              <a:t>Parallelism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rPr dirty="0"/>
              <a:t>Run independent tests concurrently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5715000"/>
            <a:ext cx="3337560" cy="996696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824728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rPr dirty="0"/>
              <a:t>Quality gate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rPr dirty="0"/>
              <a:t>Block promotion on critical failures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Test Automation Basics — Unit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5029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What is a Unit Test?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257800" cy="5029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3232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Tests a small unit of behavior, often a function or method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Fast and repeatable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Usually isolated from external systems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Produces a clear pass/fail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493776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Input: add(2, 3)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Expected: 5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Test checks one behavior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Failures help localize defects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Testing   • 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Unit Testing Example —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241280" cy="4160520"/>
          </a:xfrm>
          <a:prstGeom prst="roundRect">
            <a:avLst/>
          </a:prstGeom>
          <a:solidFill>
            <a:srgbClr val="1E232A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Ins="182880" bIns="9144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Consolas"/>
              </a:rPr>
              <a:t>// math.js
function add(a, b) {
  return a + b;
}
module.exports = { add };
// math.test.js (Jest)
const { add } = require('./math');
test('adds two numbers', () =&gt; {
  expect(add(2, 3)).toBe(5);
});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91556"/>
            <a:ext cx="102412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A test framework such as Jest executes the test and reports the result.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The same command can run locally and inside Jenkins.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Testing   • 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Code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1" y="795528"/>
            <a:ext cx="6306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bg1"/>
                </a:solidFill>
              </a:rPr>
              <a:t>A measurement of how much code is exercised by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011680" cy="621792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323"/>
                </a:solidFill>
              </a:rPr>
              <a:t>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417320"/>
            <a:ext cx="77724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32323"/>
                </a:solidFill>
              </a:rPr>
              <a:t>Which lines executed?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41448"/>
            <a:ext cx="2011680" cy="621792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323"/>
                </a:solidFill>
              </a:rPr>
              <a:t>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441448"/>
            <a:ext cx="77724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32323"/>
                </a:solidFill>
              </a:rPr>
              <a:t>Which decision paths executed?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65576"/>
            <a:ext cx="2011680" cy="621792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323"/>
                </a:solidFill>
              </a:rPr>
              <a:t>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465576"/>
            <a:ext cx="77724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32323"/>
                </a:solidFill>
              </a:rPr>
              <a:t>Which functions called?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9704"/>
            <a:ext cx="2011680" cy="621792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32323"/>
                </a:solidFill>
              </a:rPr>
              <a:t>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4489704"/>
            <a:ext cx="777240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32323"/>
                </a:solidFill>
              </a:rPr>
              <a:t>Which statements executed?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Testing   • 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Coverage in the CI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3474720"/>
          </a:xfrm>
          <a:prstGeom prst="roundRect">
            <a:avLst/>
          </a:prstGeom>
          <a:solidFill>
            <a:srgbClr val="1E232A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Ins="182880" bIns="91440" rtlCol="0" anchor="ctr"/>
          <a:lstStyle/>
          <a:p>
            <a:pPr algn="ctr"/>
            <a:r>
              <a:rPr sz="1700">
                <a:solidFill>
                  <a:srgbClr val="FFFFFF"/>
                </a:solidFill>
                <a:latin typeface="Consolas"/>
              </a:rPr>
              <a:t>stage('Test') {
    steps {
        sh 'npm test -- --coverage'
    }
    post {
        always {
            // Publish coverage report using
            // a Jenkins coverage/reporting plugin
        }
    }
}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0241280" cy="10874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600">
                <a:solidFill>
                  <a:srgbClr val="232323"/>
                </a:solidFill>
              </a:defRPr>
            </a:pPr>
            <a:r>
              <a:rPr dirty="0"/>
              <a:t>Test command produces a coverage report.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600">
                <a:solidFill>
                  <a:srgbClr val="232323"/>
                </a:solidFill>
              </a:defRPr>
            </a:pPr>
            <a:r>
              <a:rPr dirty="0"/>
              <a:t>Jenkins can publish the report so the team can inspect trends.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600">
                <a:solidFill>
                  <a:srgbClr val="232323"/>
                </a:solidFill>
              </a:defRPr>
            </a:pPr>
            <a:r>
              <a:rPr dirty="0"/>
              <a:t>A project may define a minimum coverage threshold as a quality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Testing   •   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Automated Testing: Quality Gate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A practical CI decision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94960" cy="4297680"/>
          </a:xfrm>
          <a:prstGeom prst="roundRect">
            <a:avLst/>
          </a:prstGeom>
          <a:solidFill>
            <a:srgbClr val="1C2026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5065776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rPr dirty="0"/>
              <a:t>stage('Test') {</a:t>
            </a:r>
            <a:br>
              <a:rPr dirty="0"/>
            </a:br>
            <a:r>
              <a:rPr dirty="0"/>
              <a:t>    steps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sh</a:t>
            </a:r>
            <a:r>
              <a:rPr dirty="0"/>
              <a:t> '</a:t>
            </a:r>
            <a:r>
              <a:rPr dirty="0" err="1"/>
              <a:t>mvn</a:t>
            </a:r>
            <a:r>
              <a:rPr dirty="0"/>
              <a:t> test'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post {</a:t>
            </a:r>
            <a:br>
              <a:rPr dirty="0"/>
            </a:br>
            <a:r>
              <a:rPr dirty="0"/>
              <a:t>        always {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junit</a:t>
            </a:r>
            <a:r>
              <a:rPr dirty="0"/>
              <a:t> 'target/surefire-reports/*.xml'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    unsuccessful {</a:t>
            </a:r>
            <a:br>
              <a:rPr dirty="0"/>
            </a:br>
            <a:r>
              <a:rPr dirty="0"/>
              <a:t>            echo 'Tests failed - stop promotion'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417320"/>
            <a:ext cx="1920240" cy="105156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2552" y="1527048"/>
            <a:ext cx="159105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Run tests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All automated tests execute.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58200" y="1920240"/>
            <a:ext cx="457200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8915400" y="1325880"/>
            <a:ext cx="1645920" cy="1234440"/>
          </a:xfrm>
          <a:prstGeom prst="diamond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D4B"/>
                </a:solidFill>
              </a:defRPr>
            </a:pPr>
            <a:r>
              <a:t>Tests</a:t>
            </a:r>
            <a:br/>
            <a:r>
              <a:t>pass?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2560320"/>
            <a:ext cx="0" cy="502920"/>
          </a:xfrm>
          <a:prstGeom prst="line">
            <a:avLst/>
          </a:prstGeom>
          <a:ln w="25400">
            <a:solidFill>
              <a:srgbClr val="348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3063240"/>
            <a:ext cx="2560320" cy="105156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22792" y="3172968"/>
            <a:ext cx="223113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YES → Continue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Package / deploy / promote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818120" y="1938528"/>
            <a:ext cx="1097280" cy="2221992"/>
          </a:xfrm>
          <a:prstGeom prst="line">
            <a:avLst/>
          </a:prstGeom>
          <a:ln w="25400">
            <a:solidFill>
              <a:srgbClr val="BE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4160520"/>
            <a:ext cx="2560320" cy="1051560"/>
          </a:xfrm>
          <a:prstGeom prst="roundRect">
            <a:avLst/>
          </a:prstGeom>
          <a:solidFill>
            <a:srgbClr val="FAE5E5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4270248"/>
            <a:ext cx="223113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NO → Fail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Notify team and fix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Automated Testing  •  DevOps &amp; CI/CD  |  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94B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9979" y="2103120"/>
            <a:ext cx="992156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</a:defRPr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 Automation Basics: Unit Testing &amp;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918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 small units, measure exercised code, and use coverage intelligently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Unit Testing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26765"/>
            <a:ext cx="566928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 b="0">
                <a:solidFill>
                  <a:srgbClr val="23282D"/>
                </a:solidFill>
              </a:defRPr>
            </a:pPr>
            <a:r>
              <a:rPr b="1" dirty="0"/>
              <a:t>A unit test checks a small piece of code—typically a function, method or class—in isolation.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 b="0">
                <a:solidFill>
                  <a:srgbClr val="23282D"/>
                </a:solidFill>
              </a:defRPr>
            </a:pPr>
            <a:r>
              <a:rPr b="1" dirty="0"/>
              <a:t>Good unit tests are fast, deterministic, repeatable and easy to diagnose.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 b="0">
                <a:solidFill>
                  <a:srgbClr val="23282D"/>
                </a:solidFill>
              </a:defRPr>
            </a:pPr>
            <a:r>
              <a:rPr b="1" dirty="0"/>
              <a:t>Arrange → Act → Assert is a simple structure for writing readable tests.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 b="0">
                <a:solidFill>
                  <a:srgbClr val="23282D"/>
                </a:solidFill>
              </a:defRPr>
            </a:pPr>
            <a:r>
              <a:rPr b="1" dirty="0"/>
              <a:t>Mocks/stubs can isolate dependencies such as databases, APIs or external services.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 b="0">
                <a:solidFill>
                  <a:srgbClr val="23282D"/>
                </a:solidFill>
              </a:defRPr>
            </a:pPr>
            <a:r>
              <a:rPr b="1" dirty="0"/>
              <a:t>Examples: JUnit for Java, </a:t>
            </a:r>
            <a:r>
              <a:rPr b="1" dirty="0" err="1"/>
              <a:t>pytest</a:t>
            </a:r>
            <a:r>
              <a:rPr b="1" dirty="0"/>
              <a:t> for Python, Jest/</a:t>
            </a:r>
            <a:r>
              <a:rPr b="1" dirty="0" err="1"/>
              <a:t>Vitest</a:t>
            </a:r>
            <a:r>
              <a:rPr b="1" dirty="0"/>
              <a:t> for JavaScript.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4754880" cy="3291840"/>
          </a:xfrm>
          <a:prstGeom prst="roundRect">
            <a:avLst/>
          </a:prstGeom>
          <a:solidFill>
            <a:srgbClr val="1C2026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93992" y="1527048"/>
            <a:ext cx="44256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rPr dirty="0"/>
              <a:t>// JUnit-style example</a:t>
            </a:r>
            <a:br>
              <a:rPr dirty="0"/>
            </a:br>
            <a:r>
              <a:rPr dirty="0"/>
              <a:t>@Test</a:t>
            </a:r>
            <a:br>
              <a:rPr dirty="0"/>
            </a:br>
            <a:r>
              <a:rPr dirty="0"/>
              <a:t>void </a:t>
            </a:r>
            <a:r>
              <a:rPr dirty="0" err="1"/>
              <a:t>addTwoNumbers</a:t>
            </a:r>
            <a:r>
              <a:rPr dirty="0"/>
              <a:t>() {</a:t>
            </a:r>
            <a:br>
              <a:rPr dirty="0"/>
            </a:br>
            <a:r>
              <a:rPr dirty="0"/>
              <a:t>    // Arrange</a:t>
            </a:r>
            <a:br>
              <a:rPr dirty="0"/>
            </a:br>
            <a:r>
              <a:rPr dirty="0"/>
              <a:t>    Calculator c = new Calculator();</a:t>
            </a:r>
            <a:br>
              <a:rPr dirty="0"/>
            </a:br>
            <a:br>
              <a:rPr dirty="0"/>
            </a:br>
            <a:r>
              <a:rPr dirty="0"/>
              <a:t>    // Act</a:t>
            </a:r>
            <a:br>
              <a:rPr dirty="0"/>
            </a:br>
            <a:r>
              <a:rPr dirty="0"/>
              <a:t>    int result = </a:t>
            </a:r>
            <a:r>
              <a:rPr dirty="0" err="1"/>
              <a:t>c.add</a:t>
            </a:r>
            <a:r>
              <a:rPr dirty="0"/>
              <a:t>(2, 3);</a:t>
            </a:r>
            <a:br>
              <a:rPr dirty="0"/>
            </a:br>
            <a:br>
              <a:rPr dirty="0"/>
            </a:br>
            <a:r>
              <a:rPr dirty="0"/>
              <a:t>    // Assert</a:t>
            </a:r>
            <a:br>
              <a:rPr dirty="0"/>
            </a:br>
            <a:r>
              <a:rPr dirty="0"/>
              <a:t>    </a:t>
            </a:r>
            <a:r>
              <a:rPr dirty="0" err="1"/>
              <a:t>assertEquals</a:t>
            </a:r>
            <a:r>
              <a:rPr dirty="0"/>
              <a:t>(5, result);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4983480"/>
            <a:ext cx="4754880" cy="91440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93992" y="5093208"/>
            <a:ext cx="442569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Key idea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Test behavior, not implementation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Unit Testing &amp; Coverage  •  DevOps &amp; CI/CD  |  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Test Coverage: What Does It Measure?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074920" cy="137160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474573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Line Coverage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Percentage of executable lines run by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074920" cy="137160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2512" y="1435607"/>
            <a:ext cx="474573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Statement Coverage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Measures executed statements/instructions.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39"/>
            <a:ext cx="5074920" cy="137160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3172968"/>
            <a:ext cx="474573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Branch Coverage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Checks whether decision outcomes such as if/else were exercised.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39"/>
            <a:ext cx="5074920" cy="1371600"/>
          </a:xfrm>
          <a:prstGeom prst="roundRect">
            <a:avLst/>
          </a:prstGeom>
          <a:solidFill>
            <a:srgbClr val="EEE7F9"/>
          </a:solidFill>
          <a:ln>
            <a:solidFill>
              <a:srgbClr val="69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3172968"/>
            <a:ext cx="474573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2D4B"/>
                </a:solidFill>
              </a:defRPr>
            </a:pPr>
            <a:r>
              <a:t>Method Coverage</a:t>
            </a:r>
          </a:p>
          <a:p>
            <a:pPr>
              <a:spcBef>
                <a:spcPts val="600"/>
              </a:spcBef>
              <a:defRPr sz="1300">
                <a:solidFill>
                  <a:srgbClr val="23282D"/>
                </a:solidFill>
              </a:defRPr>
            </a:pPr>
            <a:r>
              <a:t>Shows which methods/functions were invoked.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83480"/>
            <a:ext cx="4754880" cy="1143000"/>
          </a:xfrm>
          <a:prstGeom prst="roundRect">
            <a:avLst/>
          </a:prstGeom>
          <a:solidFill>
            <a:srgbClr val="1C2026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5093208"/>
            <a:ext cx="442569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if (amount &gt; 1000) {</a:t>
            </a:r>
            <a:br/>
            <a:r>
              <a:t>    discount = 10;   // branch A</a:t>
            </a:r>
            <a:br/>
            <a:r>
              <a:t>} else {</a:t>
            </a:r>
            <a:br/>
            <a:r>
              <a:t>    discount = 0;    // branch B</a:t>
            </a:r>
            <a:br/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892040"/>
            <a:ext cx="5212080" cy="1325880"/>
          </a:xfrm>
          <a:prstGeom prst="roundRect">
            <a:avLst/>
          </a:prstGeom>
          <a:solidFill>
            <a:srgbClr val="FAE5E5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5001768"/>
            <a:ext cx="4882896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Coverage warning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High coverage does NOT guarantee correct tests. A test can execute a line without checking the right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Unit Testing &amp; Coverage  •  DevOps &amp; CI/CD  |  19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Generating Coverage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4937760" cy="2560320"/>
          </a:xfrm>
          <a:prstGeom prst="roundRect">
            <a:avLst/>
          </a:prstGeom>
          <a:solidFill>
            <a:srgbClr val="1C2026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4608576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mvn test</a:t>
            </a:r>
            <a:br/>
            <a:r>
              <a:t>mvn jacoco:report</a:t>
            </a:r>
            <a:br/>
            <a:br/>
            <a:r>
              <a:t># Typical report location:</a:t>
            </a:r>
            <a:br/>
            <a:r>
              <a:t>target/site/jacoco/index.html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874519"/>
            <a:ext cx="1188720" cy="155448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45352" y="1984248"/>
            <a:ext cx="85953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rPr dirty="0"/>
              <a:t>Source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rPr dirty="0"/>
              <a:t>Java 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9480" y="2651760"/>
            <a:ext cx="201168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98080" y="1874519"/>
            <a:ext cx="1188720" cy="155448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62672" y="1984248"/>
            <a:ext cx="85953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t>Tests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JUnit tests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2651760"/>
            <a:ext cx="201168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15400" y="1874519"/>
            <a:ext cx="1188720" cy="155448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25712" y="1984248"/>
            <a:ext cx="85953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t>JaCoCo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Collect coverage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04120" y="2651760"/>
            <a:ext cx="201168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332720" y="1874519"/>
            <a:ext cx="1188720" cy="1554480"/>
          </a:xfrm>
          <a:prstGeom prst="roundRect">
            <a:avLst/>
          </a:prstGeom>
          <a:solidFill>
            <a:srgbClr val="EEE7F9"/>
          </a:solidFill>
          <a:ln>
            <a:solidFill>
              <a:srgbClr val="69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97312" y="1984248"/>
            <a:ext cx="85953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92D4B"/>
                </a:solidFill>
              </a:defRPr>
            </a:pPr>
            <a:r>
              <a:t>HTML Report</a:t>
            </a:r>
          </a:p>
          <a:p>
            <a:pPr>
              <a:spcBef>
                <a:spcPts val="600"/>
              </a:spcBef>
              <a:defRPr sz="1100">
                <a:solidFill>
                  <a:srgbClr val="23282D"/>
                </a:solidFill>
              </a:defRPr>
            </a:pPr>
            <a:r>
              <a:t>View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82D"/>
                </a:solidFill>
              </a:defRPr>
            </a:pPr>
            <a:r>
              <a:t>Coverage reports help identify untested areas.</a:t>
            </a:r>
          </a:p>
          <a:p>
            <a:pPr>
              <a:spcAft>
                <a:spcPts val="1000"/>
              </a:spcAft>
              <a:defRPr sz="1500" b="0">
                <a:solidFill>
                  <a:srgbClr val="23282D"/>
                </a:solidFill>
              </a:defRPr>
            </a:pPr>
            <a:r>
              <a:t>Teams can define minimum thresholds, for example 70% line coverage.</a:t>
            </a:r>
          </a:p>
          <a:p>
            <a:pPr>
              <a:spcAft>
                <a:spcPts val="1000"/>
              </a:spcAft>
              <a:defRPr sz="1500" b="0">
                <a:solidFill>
                  <a:srgbClr val="23282D"/>
                </a:solidFill>
              </a:defRPr>
            </a:pPr>
            <a:r>
              <a:t>Thresholds should reflect risk and project context—not become a target to game.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Unit Testing &amp; Coverage  •  DevOps &amp; CI/CD  |  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Putting It All Together: CI Pipeline with Testing &amp;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957993"/>
            <a:ext cx="5669280" cy="5257800"/>
          </a:xfrm>
          <a:prstGeom prst="roundRect">
            <a:avLst/>
          </a:prstGeom>
          <a:solidFill>
            <a:srgbClr val="1C2026"/>
          </a:solidFill>
          <a:ln>
            <a:solidFill>
              <a:srgbClr val="464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4796028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dirty="0"/>
              <a:t>pipeline {</a:t>
            </a:r>
            <a:br>
              <a:rPr dirty="0"/>
            </a:br>
            <a:r>
              <a:rPr dirty="0"/>
              <a:t>  agent any</a:t>
            </a:r>
            <a:br>
              <a:rPr dirty="0"/>
            </a:br>
            <a:r>
              <a:rPr dirty="0"/>
              <a:t>  stages {</a:t>
            </a:r>
            <a:br>
              <a:rPr dirty="0"/>
            </a:br>
            <a:r>
              <a:rPr dirty="0"/>
              <a:t>    stage('Checkout') {</a:t>
            </a:r>
            <a:br>
              <a:rPr dirty="0"/>
            </a:br>
            <a:r>
              <a:rPr dirty="0"/>
              <a:t>      steps { checkout </a:t>
            </a:r>
            <a:r>
              <a:rPr dirty="0" err="1"/>
              <a:t>scm</a:t>
            </a:r>
            <a:r>
              <a:rPr dirty="0"/>
              <a:t>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stage('Build') {</a:t>
            </a:r>
            <a:br>
              <a:rPr dirty="0"/>
            </a:br>
            <a:r>
              <a:rPr dirty="0"/>
              <a:t>      steps { </a:t>
            </a:r>
            <a:r>
              <a:rPr dirty="0" err="1"/>
              <a:t>sh</a:t>
            </a:r>
            <a:r>
              <a:rPr dirty="0"/>
              <a:t> '</a:t>
            </a:r>
            <a:r>
              <a:rPr dirty="0" err="1"/>
              <a:t>mvn</a:t>
            </a:r>
            <a:r>
              <a:rPr dirty="0"/>
              <a:t> clean compile'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stage('Unit Test') {</a:t>
            </a:r>
            <a:br>
              <a:rPr dirty="0"/>
            </a:br>
            <a:r>
              <a:rPr dirty="0"/>
              <a:t>      steps { </a:t>
            </a:r>
            <a:r>
              <a:rPr dirty="0" err="1"/>
              <a:t>sh</a:t>
            </a:r>
            <a:r>
              <a:rPr dirty="0"/>
              <a:t> '</a:t>
            </a:r>
            <a:r>
              <a:rPr dirty="0" err="1"/>
              <a:t>mvn</a:t>
            </a:r>
            <a:r>
              <a:rPr dirty="0"/>
              <a:t> test'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stage('Coverage') {</a:t>
            </a:r>
            <a:br>
              <a:rPr dirty="0"/>
            </a:br>
            <a:r>
              <a:rPr dirty="0"/>
              <a:t>      steps { </a:t>
            </a:r>
            <a:r>
              <a:rPr dirty="0" err="1"/>
              <a:t>sh</a:t>
            </a:r>
            <a:r>
              <a:rPr dirty="0"/>
              <a:t> '</a:t>
            </a:r>
            <a:r>
              <a:rPr dirty="0" err="1"/>
              <a:t>mvn</a:t>
            </a:r>
            <a:r>
              <a:rPr dirty="0"/>
              <a:t> </a:t>
            </a:r>
            <a:r>
              <a:rPr dirty="0" err="1"/>
              <a:t>jacoco:report</a:t>
            </a:r>
            <a:r>
              <a:rPr dirty="0"/>
              <a:t>'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stage('Package') {</a:t>
            </a:r>
            <a:br>
              <a:rPr dirty="0"/>
            </a:br>
            <a:r>
              <a:rPr dirty="0"/>
              <a:t>      steps { </a:t>
            </a:r>
            <a:r>
              <a:rPr dirty="0" err="1"/>
              <a:t>sh</a:t>
            </a:r>
            <a:r>
              <a:rPr dirty="0"/>
              <a:t> '</a:t>
            </a:r>
            <a:r>
              <a:rPr dirty="0" err="1"/>
              <a:t>mvn</a:t>
            </a:r>
            <a:r>
              <a:rPr dirty="0"/>
              <a:t> package'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  post {</a:t>
            </a:r>
            <a:br>
              <a:rPr dirty="0"/>
            </a:br>
            <a:r>
              <a:rPr dirty="0"/>
              <a:t>    always {</a:t>
            </a:r>
            <a:br>
              <a:rPr dirty="0"/>
            </a:br>
            <a:r>
              <a:rPr dirty="0"/>
              <a:t>      </a:t>
            </a:r>
            <a:r>
              <a:rPr dirty="0" err="1"/>
              <a:t>junit</a:t>
            </a:r>
            <a:r>
              <a:rPr dirty="0"/>
              <a:t> 'target/surefire-reports/*.xml'</a:t>
            </a:r>
            <a:br>
              <a:rPr dirty="0"/>
            </a:br>
            <a:r>
              <a:rPr dirty="0"/>
              <a:t>      </a:t>
            </a:r>
            <a:r>
              <a:rPr dirty="0" err="1"/>
              <a:t>archiveArtifacts</a:t>
            </a:r>
            <a:r>
              <a:rPr dirty="0"/>
              <a:t> 'target/*.jar'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234440"/>
            <a:ext cx="4800600" cy="1051560"/>
          </a:xfrm>
          <a:prstGeom prst="roundRect">
            <a:avLst/>
          </a:prstGeom>
          <a:solidFill>
            <a:srgbClr val="E1EFFC"/>
          </a:solidFill>
          <a:ln>
            <a:solidFill>
              <a:srgbClr val="2D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93992" y="1344168"/>
            <a:ext cx="447141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1. Pipeline as Code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Jenkinsfile defines the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514600"/>
            <a:ext cx="4800600" cy="1051560"/>
          </a:xfrm>
          <a:prstGeom prst="roundRect">
            <a:avLst/>
          </a:prstGeom>
          <a:solidFill>
            <a:srgbClr val="E2F3E7"/>
          </a:solidFill>
          <a:ln>
            <a:solidFill>
              <a:srgbClr val="34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2624328"/>
            <a:ext cx="447141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2. Automated Build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Compile/package on every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794760"/>
            <a:ext cx="4800600" cy="1051560"/>
          </a:xfrm>
          <a:prstGeom prst="roundRect">
            <a:avLst/>
          </a:prstGeom>
          <a:solidFill>
            <a:srgbClr val="FCEDDC"/>
          </a:solidFill>
          <a:ln>
            <a:solidFill>
              <a:srgbClr val="DC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93992" y="3904488"/>
            <a:ext cx="447141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3. Automated Test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Run unit tests and publish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5074920"/>
            <a:ext cx="4800600" cy="1051560"/>
          </a:xfrm>
          <a:prstGeom prst="roundRect">
            <a:avLst/>
          </a:prstGeom>
          <a:solidFill>
            <a:srgbClr val="EEE7F9"/>
          </a:solidFill>
          <a:ln>
            <a:solidFill>
              <a:srgbClr val="69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5184648"/>
            <a:ext cx="447141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D4B"/>
                </a:solidFill>
              </a:defRPr>
            </a:pPr>
            <a:r>
              <a:t>4. Coverage</a:t>
            </a:r>
          </a:p>
          <a:p>
            <a:pPr>
              <a:spcBef>
                <a:spcPts val="600"/>
              </a:spcBef>
              <a:defRPr sz="1200">
                <a:solidFill>
                  <a:srgbClr val="23282D"/>
                </a:solidFill>
              </a:defRPr>
            </a:pPr>
            <a:r>
              <a:t>Measure exercised code and improve gaps.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Unit Testing &amp; Coverage  •  DevOps &amp; CI/CD  |  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CI/CD Best Practices for Build &amp; Test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08289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b="1" dirty="0"/>
              <a:t>Keep the </a:t>
            </a:r>
            <a:r>
              <a:rPr b="1" dirty="0" err="1"/>
              <a:t>Jenkinsfile</a:t>
            </a:r>
            <a:r>
              <a:rPr b="1" dirty="0"/>
              <a:t> in source control with the application code.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b="1" dirty="0"/>
              <a:t>Fail fast on compilation, linting or critical unit-test failures.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b="1" dirty="0"/>
              <a:t>Use reproducible dependency installation: </a:t>
            </a:r>
            <a:r>
              <a:rPr b="1" dirty="0" err="1"/>
              <a:t>npm</a:t>
            </a:r>
            <a:r>
              <a:rPr b="1" dirty="0"/>
              <a:t> ci / locked dependencies.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b="1" dirty="0"/>
              <a:t>Keep build, test and deployment stages clearly separated.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b="1" dirty="0"/>
              <a:t>Store test results and coverage reports as build evidence.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b="1" dirty="0"/>
              <a:t>Use credentials/secrets through Jenkins credentials management — never hard-code them.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b="1" dirty="0"/>
              <a:t>Keep pipelines small, readable and reusable; avoid duplicating commands.</a:t>
            </a:r>
          </a:p>
          <a:p>
            <a:pPr marL="400050" indent="-400050">
              <a:spcAft>
                <a:spcPts val="1000"/>
              </a:spcAft>
              <a:buFont typeface="+mj-lt"/>
              <a:buAutoNum type="romanUcPeriod"/>
              <a:defRPr sz="1700">
                <a:solidFill>
                  <a:srgbClr val="232323"/>
                </a:solidFill>
              </a:defRPr>
            </a:pPr>
            <a:r>
              <a:rPr b="1" dirty="0"/>
              <a:t>Treat pipeline failures as feedback to fix before promotion/deployment.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CI/CD   •   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A46"/>
                </a:solidFill>
              </a:rPr>
              <a:t>End-to-End Example: </a:t>
            </a:r>
            <a:r>
              <a:rPr sz="2800" b="1" dirty="0" err="1">
                <a:solidFill>
                  <a:srgbClr val="192A46"/>
                </a:solidFill>
              </a:rPr>
              <a:t>npm</a:t>
            </a:r>
            <a:r>
              <a:rPr sz="2800" b="1" dirty="0">
                <a:solidFill>
                  <a:srgbClr val="192A46"/>
                </a:solidFill>
              </a:rPr>
              <a:t> Application in Jenkins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" y="1874519"/>
            <a:ext cx="1417320" cy="658368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2670048"/>
            <a:ext cx="14173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32323"/>
                </a:solidFill>
              </a:rPr>
              <a:t>Commit / PR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2194560"/>
            <a:ext cx="274320" cy="0"/>
          </a:xfrm>
          <a:prstGeom prst="line">
            <a:avLst/>
          </a:prstGeom>
          <a:ln w="254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20240" y="1874519"/>
            <a:ext cx="1417320" cy="658368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70048"/>
            <a:ext cx="14173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32323"/>
                </a:solidFill>
              </a:rPr>
              <a:t>Get source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194560"/>
            <a:ext cx="27432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1874519"/>
            <a:ext cx="1417320" cy="658368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Install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670048"/>
            <a:ext cx="14173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32323"/>
                </a:solidFill>
              </a:rPr>
              <a:t>npm ci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0" y="2194560"/>
            <a:ext cx="27432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03520" y="1874519"/>
            <a:ext cx="1417320" cy="658368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670048"/>
            <a:ext cx="14173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32323"/>
                </a:solidFill>
              </a:rPr>
              <a:t>npm run build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0840" y="2194560"/>
            <a:ext cx="274320" cy="0"/>
          </a:xfrm>
          <a:prstGeom prst="line">
            <a:avLst/>
          </a:prstGeom>
          <a:ln w="254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95160" y="1874519"/>
            <a:ext cx="1417320" cy="658368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2670048"/>
            <a:ext cx="14173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32323"/>
                </a:solidFill>
              </a:rPr>
              <a:t>npm test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0" y="2194560"/>
            <a:ext cx="27432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0" y="1874519"/>
            <a:ext cx="1417320" cy="658368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670048"/>
            <a:ext cx="14173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32323"/>
                </a:solidFill>
              </a:rPr>
              <a:t>--coverage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04120" y="2194560"/>
            <a:ext cx="27432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78440" y="1874519"/>
            <a:ext cx="1417320" cy="658368"/>
          </a:xfrm>
          <a:prstGeom prst="roundRect">
            <a:avLst/>
          </a:prstGeom>
          <a:solidFill>
            <a:srgbClr val="F2F4F7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32323"/>
                </a:solidFill>
              </a:rPr>
              <a:t>Artifact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2670048"/>
            <a:ext cx="14173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32323"/>
                </a:solidFill>
              </a:rPr>
              <a:t>Archive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4160520"/>
            <a:ext cx="10058400" cy="7772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32323"/>
                </a:solidFill>
              </a:rPr>
              <a:t>Result: every change gets a consistent, auditable build + test result.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57800"/>
            <a:ext cx="8686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Developer receives fast feedback.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Team gets repeatable evidence before deployment.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CI/CD   •   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Classroom / Practical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90848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b="1" dirty="0"/>
              <a:t>Create a simple Node.js project and initialize it with </a:t>
            </a:r>
            <a:r>
              <a:rPr b="1" dirty="0" err="1"/>
              <a:t>npm</a:t>
            </a:r>
            <a:r>
              <a:rPr b="1" dirty="0"/>
              <a:t>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b="1" dirty="0"/>
              <a:t>Add one runtime dependency and one development dependency.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b="1" dirty="0"/>
              <a:t>Create </a:t>
            </a:r>
            <a:r>
              <a:rPr b="1" dirty="0" err="1"/>
              <a:t>npm</a:t>
            </a:r>
            <a:r>
              <a:rPr b="1" dirty="0"/>
              <a:t> scripts: start, build, test and lint.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b="1" dirty="0"/>
              <a:t>Write at least two unit tests and generate a coverage report.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b="1" dirty="0"/>
              <a:t>Create a </a:t>
            </a:r>
            <a:r>
              <a:rPr b="1" dirty="0" err="1"/>
              <a:t>Jenkinsfile</a:t>
            </a:r>
            <a:r>
              <a:rPr b="1" dirty="0"/>
              <a:t> with Checkout → Install → Build → Test stages.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b="1" dirty="0"/>
              <a:t>Run the pipeline after every Git push and inspect the console output.</a:t>
            </a:r>
          </a:p>
          <a:p>
            <a:pPr marL="514350" indent="-514350">
              <a:spcAft>
                <a:spcPts val="1000"/>
              </a:spcAft>
              <a:buFont typeface="+mj-lt"/>
              <a:buAutoNum type="romanUcPeriod"/>
              <a:defRPr sz="1900">
                <a:solidFill>
                  <a:srgbClr val="232323"/>
                </a:solidFill>
              </a:defRPr>
            </a:pPr>
            <a:r>
              <a:rPr b="1" dirty="0"/>
              <a:t>Intentionally break one test and observe how Jenkins marks the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Practical   •   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A46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290848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lphaLcPeriod"/>
              <a:defRPr sz="1900">
                <a:solidFill>
                  <a:srgbClr val="232323"/>
                </a:solidFill>
              </a:defRPr>
            </a:pPr>
            <a:r>
              <a:rPr b="1" dirty="0" err="1"/>
              <a:t>npm</a:t>
            </a:r>
            <a:r>
              <a:rPr b="1" dirty="0"/>
              <a:t> standardizes JavaScript dependency management and project scripts.</a:t>
            </a:r>
          </a:p>
          <a:p>
            <a:pPr marL="457200" indent="-457200">
              <a:spcAft>
                <a:spcPts val="1000"/>
              </a:spcAft>
              <a:buFont typeface="+mj-lt"/>
              <a:buAutoNum type="alphaLcPeriod"/>
              <a:defRPr sz="1900">
                <a:solidFill>
                  <a:srgbClr val="232323"/>
                </a:solidFill>
              </a:defRPr>
            </a:pPr>
            <a:r>
              <a:rPr b="1" dirty="0"/>
              <a:t>package-</a:t>
            </a:r>
            <a:r>
              <a:rPr b="1" dirty="0" err="1"/>
              <a:t>lock.json</a:t>
            </a:r>
            <a:r>
              <a:rPr b="1" dirty="0"/>
              <a:t> + </a:t>
            </a:r>
            <a:r>
              <a:rPr b="1" dirty="0" err="1"/>
              <a:t>npm</a:t>
            </a:r>
            <a:r>
              <a:rPr b="1" dirty="0"/>
              <a:t> ci help make CI dependency installation reproducible.</a:t>
            </a:r>
          </a:p>
          <a:p>
            <a:pPr marL="457200" indent="-457200">
              <a:spcAft>
                <a:spcPts val="1000"/>
              </a:spcAft>
              <a:buFont typeface="+mj-lt"/>
              <a:buAutoNum type="alphaLcPeriod"/>
              <a:defRPr sz="1900">
                <a:solidFill>
                  <a:srgbClr val="232323"/>
                </a:solidFill>
              </a:defRPr>
            </a:pPr>
            <a:r>
              <a:rPr b="1" dirty="0"/>
              <a:t>Maven and Gradle solve similar build/dependency problems in the JVM ecosystem.</a:t>
            </a:r>
          </a:p>
          <a:p>
            <a:pPr marL="457200" indent="-457200">
              <a:spcAft>
                <a:spcPts val="1000"/>
              </a:spcAft>
              <a:buFont typeface="+mj-lt"/>
              <a:buAutoNum type="alphaLcPeriod"/>
              <a:defRPr sz="1900">
                <a:solidFill>
                  <a:srgbClr val="232323"/>
                </a:solidFill>
              </a:defRPr>
            </a:pPr>
            <a:r>
              <a:rPr b="1" dirty="0"/>
              <a:t>Jenkins turns build and test steps into an automated, repeatable pipeline.</a:t>
            </a:r>
          </a:p>
          <a:p>
            <a:pPr marL="457200" indent="-457200">
              <a:spcAft>
                <a:spcPts val="1000"/>
              </a:spcAft>
              <a:buFont typeface="+mj-lt"/>
              <a:buAutoNum type="alphaLcPeriod"/>
              <a:defRPr sz="1900">
                <a:solidFill>
                  <a:srgbClr val="232323"/>
                </a:solidFill>
              </a:defRPr>
            </a:pPr>
            <a:r>
              <a:rPr b="1" dirty="0"/>
              <a:t>Declarative Pipelines organize automation into pipeline → agent → stages → steps.</a:t>
            </a:r>
          </a:p>
          <a:p>
            <a:pPr marL="457200" indent="-457200">
              <a:spcAft>
                <a:spcPts val="1000"/>
              </a:spcAft>
              <a:buFont typeface="+mj-lt"/>
              <a:buAutoNum type="alphaLcPeriod"/>
              <a:defRPr sz="1900">
                <a:solidFill>
                  <a:srgbClr val="232323"/>
                </a:solidFill>
              </a:defRPr>
            </a:pPr>
            <a:r>
              <a:rPr b="1" dirty="0"/>
              <a:t>Unit tests provide fast feedback; coverage measures test execution across code.</a:t>
            </a:r>
          </a:p>
          <a:p>
            <a:pPr marL="457200" indent="-457200">
              <a:spcAft>
                <a:spcPts val="1000"/>
              </a:spcAft>
              <a:buFont typeface="+mj-lt"/>
              <a:buAutoNum type="alphaLcPeriod"/>
              <a:defRPr sz="1900">
                <a:solidFill>
                  <a:srgbClr val="232323"/>
                </a:solidFill>
              </a:defRPr>
            </a:pPr>
            <a:r>
              <a:rPr b="1" dirty="0"/>
              <a:t>A good CI pipeline provides evidence: build status, test results, coverage and artifacts.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5486400"/>
            <a:ext cx="9875520" cy="658368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232323"/>
                </a:solidFill>
              </a:rPr>
              <a:t>Build once • Test automatically • Get fast feedback • Deliver consistently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368"/>
                </a:solidFill>
              </a:defRPr>
            </a:pPr>
            <a:r>
              <a:t>Summary   • 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u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Source Sans Pro Black"/>
        <a:ea typeface=""/>
        <a:cs typeface="Segoe UI"/>
      </a:majorFont>
      <a:minorFont>
        <a:latin typeface="Source Sans Pro Semibold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Pu Theme" id="{632EAD48-1B96-449A-9387-5D84D0B3F1FB}" vid="{EFDEE49C-6645-473A-9627-DC9C2D04AA7F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Source Sans Pro Black"/>
        <a:ea typeface=""/>
        <a:cs typeface="Segoe UI"/>
      </a:majorFont>
      <a:minorFont>
        <a:latin typeface="Source Sans Pro Semibold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pu updated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LPu Theme</Template>
  <TotalTime>934</TotalTime>
  <Words>3057</Words>
  <Application>Microsoft Office PowerPoint</Application>
  <PresentationFormat>Widescreen</PresentationFormat>
  <Paragraphs>386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Arial</vt:lpstr>
      <vt:lpstr>Calibri</vt:lpstr>
      <vt:lpstr>Comic Sans MS</vt:lpstr>
      <vt:lpstr>Consolas</vt:lpstr>
      <vt:lpstr>Source Sans Pro Black</vt:lpstr>
      <vt:lpstr>Source Sans Pro Light</vt:lpstr>
      <vt:lpstr>Source Sans Pro Semibold</vt:lpstr>
      <vt:lpstr>Times New Roman</vt:lpstr>
      <vt:lpstr>Wingdings</vt:lpstr>
      <vt:lpstr>LPu Theme</vt:lpstr>
      <vt:lpstr>1_Office Theme</vt:lpstr>
      <vt:lpstr>lpu updated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WAHEGURU JI</dc:creator>
  <cp:keywords/>
  <dc:description>generated using python-pptx</dc:description>
  <cp:lastModifiedBy>Raj Singh</cp:lastModifiedBy>
  <cp:revision>22</cp:revision>
  <dcterms:created xsi:type="dcterms:W3CDTF">2013-01-27T09:14:16Z</dcterms:created>
  <dcterms:modified xsi:type="dcterms:W3CDTF">2026-10-09T05:31:39Z</dcterms:modified>
  <cp:category/>
</cp:coreProperties>
</file>