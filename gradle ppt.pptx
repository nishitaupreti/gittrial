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82" autoAdjust="0"/>
  </p:normalViewPr>
  <p:slideViewPr>
    <p:cSldViewPr snapToGrid="0" snapToObjects="1">
      <p:cViewPr varScale="1">
        <p:scale>
          <a:sx n="51" d="100"/>
          <a:sy n="51" d="100"/>
        </p:scale>
        <p:origin x="11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0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to this briefing on Gradle. Grounded in official documentation and tutorials, this 15-slide deck covers Gradle core architecture, lifecycle, dependency configurations, plugins, performance optimizations, and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 is a modern build tool designed for flexible, high-performance automation. It blends Ant's flexibility with Maven's standard conventions using Groovy and Kotlin DSLs.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strengths include build performance mechanisms, multi-language support, custom task/plugin extensibility, and sophisticated dependency resolution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Overview: The CLI/Wrapper passes commands to the Gradle Daemon process, which evaluates `settings.gradle` and `build.gradle` to instantiate Project and Task domain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 supports both Groovy DSL (`build.gradle`) and Kotlin DSL (`build.gradle.kts`). Kotlin DSL is modern and type-safe, offering superior IDE auto-completion.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Tasks form a Directed Acyclic Graph (DAG). Gradle calculates task dependencies upfront during configuration so tasks run in exact order without circular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Gradle Build Lifecycle consists of 3 distinct phases: Initialization (reading settings), Configuration (executing script logic &amp; forming DAG), and Execution (running actions).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 groups dependencies into configurations (e.g. `implementation`, `api`, `testImplementation`). It supports repository declarations and automatic transitive dependency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 plugins come in two forms: Script plugins (local Gradle scripts) and Binary plugins (compiled JARs applied via the `plugins {}` block or legacy `buildscript` block).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Gradle Wrapper (`gradlew`) is the recommended way to execute builds. It automatically downloads and caches the required Gradle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Gradle's performance dominance stems from 3 pillars: the persistent Gradle Daemon process, strict input/output incremental checking, and local/remote build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Comparing build tools: Ant provides maximum freedom but XML clutter; Maven provides strict conventions; Gradle provides Maven's conventions with Ant's flexibility and unmatched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Gradle integrates natively with testing frameworks like JUnit 5 and code quality tools like JaCoCo, Checkstyle, and PMD to enforce build verification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 of best practices: Use the Wrapper, adopt Kotlin DSL, leverage Version Catalogs for dependencies, enable Build Caching, and practice Task Configuration Avoidance.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rPr lang="en-IN" dirty="0"/>
              <a:t>Introduction and Brief of Tool </a:t>
            </a:r>
            <a:r>
              <a:rPr dirty="0"/>
              <a:t>Gradle</a:t>
            </a:r>
          </a:p>
          <a:p>
            <a:pPr>
              <a:defRPr sz="1800">
                <a:solidFill>
                  <a:srgbClr val="94A3B8"/>
                </a:solidFill>
                <a:latin typeface="Verdana"/>
              </a:defRPr>
            </a:pPr>
            <a:r>
              <a:rPr lang="en-IN" dirty="0"/>
              <a:t>INT 331 – UNIT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Gradle Combines Ant's Flexibility with Maven's Declarative Conventions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dirty="0"/>
              <a:t>Core Philosophy &amp; Purpose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Groovy/Kotlin DSL: </a:t>
            </a:r>
            <a:r>
              <a:rPr b="0" dirty="0">
                <a:solidFill>
                  <a:srgbClr val="64748B"/>
                </a:solidFill>
              </a:rPr>
              <a:t>Replaces bulky XML configuration files with concise, highly scriptable domain-specific languages.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Best of Both Worlds: </a:t>
            </a:r>
            <a:r>
              <a:rPr b="0" dirty="0">
                <a:solidFill>
                  <a:srgbClr val="64748B"/>
                </a:solidFill>
              </a:rPr>
              <a:t>Inherits Maven's standardized directory structure and dependency management while keeping Apache Ant's task flexibility.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Language-Agnostic: </a:t>
            </a:r>
            <a:r>
              <a:rPr b="0" dirty="0">
                <a:solidFill>
                  <a:srgbClr val="64748B"/>
                </a:solidFill>
              </a:rPr>
              <a:t>Primarily used for Java/JVM applications, but natively supports Kotlin, C++, Swift, and Android ecosystems.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Declarative &amp; Imperative: </a:t>
            </a:r>
            <a:r>
              <a:rPr b="0" dirty="0">
                <a:solidFill>
                  <a:srgbClr val="64748B"/>
                </a:solidFill>
              </a:rPr>
              <a:t>Allows declarative build configurations backed by full programming language execution when custom logic is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9144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rPr dirty="0"/>
              <a:t>Declarative Build Model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rPr dirty="0"/>
              <a:t>Build logic expressed as clear domain objects and configurations rather than procedural </a:t>
            </a:r>
            <a:r>
              <a:rPr dirty="0" err="1"/>
              <a:t>procedural</a:t>
            </a:r>
            <a:r>
              <a:rPr dirty="0"/>
              <a:t>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5468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154680"/>
            <a:ext cx="914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rPr dirty="0"/>
              <a:t>Incremental Build Engine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rPr dirty="0"/>
              <a:t>Automatically tracks task inputs and outputs to avoid re-executing unchanged code blocks.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66344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4663440"/>
            <a:ext cx="91440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800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rPr dirty="0"/>
              <a:t>Extensible Plugin System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rPr dirty="0"/>
              <a:t>Extends functionality via core plugins or community plugins published to Gradle Plugin Portal.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High Performance and Multi-Language Support Drive Enterprise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rPr dirty="0"/>
              <a:t>Gradle Technical </a:t>
            </a:r>
            <a:r>
              <a:rPr dirty="0" err="1"/>
              <a:t>riefing</a:t>
            </a:r>
            <a:r>
              <a:rPr dirty="0"/>
              <a:t>  |  Slide 3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⚡ High Performance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Build Avoidance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Gradle avoids unnecessary work by reusing outputs from previous builds or remote build caches.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🌐 Polyglot Ecosystem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Multi-Language Support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Build Java, Kotlin, Groovy, C++, Swift, and Android projects seamlessly within one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🧱 Deep Extensibility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Custom Plugins &amp; Tasks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Easily write custom build logic, tasks, and plugins using Groovy, Kotlin, or Java 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📦 Advanced Dependency Mgmt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Conflict Resolution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Supports transitive dependencies, version constraints, version catalogs, and custom repositories.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Architecture Separates Build Logic from Domain Model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4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Build Trigger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t>• Command Line / IDE</a:t>
            </a:r>
            <a:br/>
            <a:r>
              <a:t>  Executes `./gradlew &lt;task&gt;`</a:t>
            </a:r>
            <a:br/>
            <a:br/>
            <a:r>
              <a:t>• Gradle Wrapper</a:t>
            </a:r>
            <a:br/>
            <a:r>
              <a:t>  Locates/downloads exact distribution.</a:t>
            </a:r>
            <a:br/>
            <a:br/>
            <a:r>
              <a:t>• User Configuration</a:t>
            </a:r>
            <a:br/>
            <a:r>
              <a:t>  Reads `gradle.properties` &amp; CLI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2. Gradle Daemon Engine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t>• Long-Lived Background Process</a:t>
            </a:r>
            <a:br/>
            <a:r>
              <a:t>  Avoids JVM startup overhead on every build.</a:t>
            </a:r>
            <a:br/>
            <a:br/>
            <a:r>
              <a:t>• In-Memory Caching</a:t>
            </a:r>
            <a:br/>
            <a:r>
              <a:t>  Holds project models &amp; task outputs in RAM.</a:t>
            </a:r>
            <a:br/>
            <a:br/>
            <a:r>
              <a:t>• Lifecycle Executor</a:t>
            </a:r>
            <a:br/>
            <a:r>
              <a:t>  Orchestrates Initialization, Configuration, and Execution phases.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004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3. Domain Model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t>• Settings (`settings.gradle`)</a:t>
            </a:r>
            <a:br/>
            <a:r>
              <a:t>  Defines root &amp; participating modules.</a:t>
            </a:r>
            <a:br/>
            <a:br/>
            <a:r>
              <a:t>• Project Object</a:t>
            </a:r>
            <a:br/>
            <a:r>
              <a:t>  Represents individual build module.</a:t>
            </a:r>
            <a:br/>
            <a:br/>
            <a:r>
              <a:t>• Task Graph (DAG)</a:t>
            </a:r>
            <a:br/>
            <a:r>
              <a:t>  Directed graph of executable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Kotlin DSL Provides Type Safety While Groovy DSL Offers Dynamic Simplicity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5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Groovy DSL (`build.gradle`)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Dynamic Scripting: </a:t>
            </a:r>
            <a:r>
              <a:rPr b="0">
                <a:solidFill>
                  <a:srgbClr val="64748B"/>
                </a:solidFill>
              </a:rPr>
              <a:t>Flexible syntax with minimal boilerplate code.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Legacy Standard: </a:t>
            </a:r>
            <a:r>
              <a:rPr b="0">
                <a:solidFill>
                  <a:srgbClr val="64748B"/>
                </a:solidFill>
              </a:rPr>
              <a:t>Historically the default DSL with vast community code examples.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Concise Strings: </a:t>
            </a:r>
            <a:r>
              <a:rPr b="0">
                <a:solidFill>
                  <a:srgbClr val="64748B"/>
                </a:solidFill>
              </a:rPr>
              <a:t>Supports dynamic interpolation (`"${var}"`) and flexible maps.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Trade-off: </a:t>
            </a:r>
            <a:r>
              <a:rPr b="0">
                <a:solidFill>
                  <a:srgbClr val="64748B"/>
                </a:solidFill>
              </a:rPr>
              <a:t>Runtime errors can occur if properties or methods are misspelled.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Kotlin DSL (`build.gradle.kts`)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Static Type Safety: </a:t>
            </a:r>
            <a:r>
              <a:rPr b="0">
                <a:solidFill>
                  <a:srgbClr val="64748B"/>
                </a:solidFill>
              </a:rPr>
              <a:t>Compile-time error checking directly inside build scripts.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Superior IDE Support: </a:t>
            </a:r>
            <a:r>
              <a:rPr b="0">
                <a:solidFill>
                  <a:srgbClr val="64748B"/>
                </a:solidFill>
              </a:rPr>
              <a:t>Precise code completion, refactoring, and inline documentation.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Modern Gradle Default: </a:t>
            </a:r>
            <a:r>
              <a:rPr b="0">
                <a:solidFill>
                  <a:srgbClr val="64748B"/>
                </a:solidFill>
              </a:rPr>
              <a:t>Recommended choice for new Gradle projects and enterprise teams.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Trade-off: </a:t>
            </a:r>
            <a:r>
              <a:rPr b="0">
                <a:solidFill>
                  <a:srgbClr val="64748B"/>
                </a:solidFill>
              </a:rPr>
              <a:t>Slightly stricter syntax requiring explicit types and double quotes.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TASK DEPENDENCY DAG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Tasks Form Directed Acyclic Graphs to Execute Granular Units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6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t>Tasks are the fundamental atomic units of work in Gradle (e.g., compiling code, running tests, or creating JARs).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Tasks define declared Inputs and Outputs. Before executing any task, Gradle builds a Directed Acyclic Graph (DAG) to determine the strict execution sequence based on `dependsOn` declarations.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22860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compileJava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Input: .java files</a:t>
            </a:r>
            <a:br/>
            <a:r>
              <a:t>Output: .class files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657600"/>
            <a:ext cx="54864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40480" y="3200400"/>
            <a:ext cx="22860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classes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Lifecycle Aggregate</a:t>
            </a:r>
            <a:br/>
            <a:r>
              <a:t>Task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63640" y="3657600"/>
            <a:ext cx="54864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0" y="3200400"/>
            <a:ext cx="21031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test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Executes JUnit</a:t>
            </a:r>
            <a:br/>
            <a:r>
              <a:t>test suites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89720" y="3657600"/>
            <a:ext cx="54864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75520" y="3200400"/>
            <a:ext cx="1554480" cy="128016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21240" y="32918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jar</a:t>
            </a:r>
          </a:p>
          <a:p>
            <a:pPr>
              <a:defRPr sz="1100">
                <a:solidFill>
                  <a:srgbClr val="E0F2FE"/>
                </a:solidFill>
              </a:defRPr>
            </a:pPr>
            <a:r>
              <a:t>Produces final</a:t>
            </a:r>
            <a:br/>
            <a:r>
              <a:t>JAR artifact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Task Actions (`doFirst` &amp; `doLast`):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Tasks consist of an action list executed in strict sequence. `doFirst { ... }` prepends actions to the top of the execution list, while `doLast { ... }` appends actions to the bottom.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BUILD LIFECYCLE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Build Lifecycle Transitions through Initialization, Configuration, and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7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t>Phase 1: Initialization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Detects Projects &amp; Settings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Verdana"/>
              </a:defRPr>
            </a:pPr>
            <a:r>
              <a:t>Gradle evaluates `settings.gradle` to identify root project and included subprojects, instantiating `Project` objects for 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54880"/>
            <a:ext cx="320040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urier New"/>
              </a:defRPr>
            </a:pPr>
            <a:r>
              <a:t>// settings.gradle</a:t>
            </a:r>
            <a:br/>
            <a:r>
              <a:t>rootProject.name = 'app'</a:t>
            </a:r>
            <a:br/>
            <a:r>
              <a:t>include 'api', 'service'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3474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t>Phase 2: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Evaluates Scripts &amp; Builds DAG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Verdana"/>
              </a:defRPr>
            </a:pPr>
            <a:r>
              <a:t>Executes `build.gradle` scripts for participating projects. Configures task objects and constructs the complete Task DAG.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754880"/>
            <a:ext cx="320040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urier New"/>
              </a:defRPr>
            </a:pPr>
            <a:r>
              <a:t>// build.gradle</a:t>
            </a:r>
            <a:br/>
            <a:r>
              <a:t>task configured {</a:t>
            </a:r>
            <a:br/>
            <a:r>
              <a:t>  println 'Configuring'</a:t>
            </a:r>
            <a:br/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3474720" cy="73152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t>Phase 3: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603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Executes Targeted Tasks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Verdana"/>
              </a:defRPr>
            </a:pPr>
            <a:r>
              <a:t>Evaluates task inputs/outputs, skips `UP-TO-DATE` tasks, and executes required task actions (`doLast`) in dependency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754880"/>
            <a:ext cx="320040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urier New"/>
              </a:defRPr>
            </a:pPr>
            <a:r>
              <a:t>// Execution action</a:t>
            </a:r>
            <a:br/>
            <a:r>
              <a:t>task run {</a:t>
            </a:r>
            <a:br/>
            <a:r>
              <a:t>  doLast { println 'Done'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DEPENDENCY RESOLUTION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Grouped Configurations Streamline Complex Dependency Resolution and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8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Standard Java Configurations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implementation: </a:t>
            </a:r>
            <a:r>
              <a:rPr b="0">
                <a:solidFill>
                  <a:srgbClr val="64748B"/>
                </a:solidFill>
              </a:rPr>
              <a:t>Internal dependencies not exposed to downstream consumers (prevents leak).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api: </a:t>
            </a:r>
            <a:r>
              <a:rPr b="0">
                <a:solidFill>
                  <a:srgbClr val="64748B"/>
                </a:solidFill>
              </a:rPr>
              <a:t>Exposed transitively to dependent projects (Java Library Plugin).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compileOnly: </a:t>
            </a:r>
            <a:r>
              <a:rPr b="0">
                <a:solidFill>
                  <a:srgbClr val="64748B"/>
                </a:solidFill>
              </a:rPr>
              <a:t>Needed only at compile time (e.g., Lombok annotations).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runtimeOnly: </a:t>
            </a:r>
            <a:r>
              <a:rPr b="0">
                <a:solidFill>
                  <a:srgbClr val="64748B"/>
                </a:solidFill>
              </a:rPr>
              <a:t>Required only at runtime (e.g., database JDBC drivers).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testImplementation: </a:t>
            </a:r>
            <a:r>
              <a:rPr b="0">
                <a:solidFill>
                  <a:srgbClr val="64748B"/>
                </a:solidFill>
              </a:rPr>
              <a:t>Scoped strictly to compilation and execution of test suites.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Resolution, Repositories &amp; Rules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Declared Repositories: </a:t>
            </a:r>
            <a:r>
              <a:rPr b="0">
                <a:solidFill>
                  <a:srgbClr val="64748B"/>
                </a:solidFill>
              </a:rPr>
              <a:t>Fetch artifacts from `mavenCentral()`, `google()`, or private Nexus/Artifactory repositories.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Transitive Control: </a:t>
            </a:r>
            <a:r>
              <a:rPr b="0">
                <a:solidFill>
                  <a:srgbClr val="64748B"/>
                </a:solidFill>
              </a:rPr>
              <a:t>Exclude unwanted transitive libraries globally or per dependency (`transitive = false`).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Conflict Resolution: </a:t>
            </a:r>
            <a:r>
              <a:rPr b="0">
                <a:solidFill>
                  <a:srgbClr val="64748B"/>
                </a:solidFill>
              </a:rPr>
              <a:t>By default, Gradle automatically resolves version conflicts by picking the highest requested version.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Local Files &amp; Trees: </a:t>
            </a:r>
            <a:r>
              <a:rPr b="0">
                <a:solidFill>
                  <a:srgbClr val="64748B"/>
                </a:solidFill>
              </a:rPr>
              <a:t>Include flat JARs directly via `implementation files('libs/joda.jar')` or `fileTree('libs')`.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Binary and Script Plugins Extend Capabilities across Enterprise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9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Verdana"/>
              </a:defRPr>
            </a:pPr>
            <a:r>
              <a:t>Plugins encapsulate reusable build logic, custom tasks, configurations, and source sets.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Applying a plugin executes `Plugin.apply(Project)` to extend the project's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Script Plugins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Local Build Scripts: </a:t>
            </a:r>
            <a:r>
              <a:rPr b="0">
                <a:solidFill>
                  <a:srgbClr val="64748B"/>
                </a:solidFill>
              </a:rPr>
              <a:t>Additional Gradle build scripts applied directly from filesystem or URL.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Syntax Example: </a:t>
            </a:r>
            <a:r>
              <a:rPr b="0">
                <a:solidFill>
                  <a:srgbClr val="64748B"/>
                </a:solidFill>
              </a:rPr>
              <a:t>`apply from: 'otherScript.gradle'`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Use Case: </a:t>
            </a:r>
            <a:r>
              <a:rPr b="0">
                <a:solidFill>
                  <a:srgbClr val="64748B"/>
                </a:solidFill>
              </a:rPr>
              <a:t>Modularizing local build scripts within a multi-project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3464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97180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2. Binary Plugins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Compiled JARs: </a:t>
            </a:r>
            <a:r>
              <a:rPr b="0">
                <a:solidFill>
                  <a:srgbClr val="64748B"/>
                </a:solidFill>
              </a:rPr>
              <a:t>Classes implementing `org.gradle.api.Plugin` written in Java, Groovy, or Kotlin.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Plugins DSL: </a:t>
            </a:r>
            <a:r>
              <a:rPr b="0">
                <a:solidFill>
                  <a:srgbClr val="64748B"/>
                </a:solidFill>
              </a:rPr>
              <a:t>`plugins { id 'java' }` or `id 'org.springframework.boot' version '3.2.0'`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Core vs Community: </a:t>
            </a:r>
            <a:r>
              <a:rPr b="0">
                <a:solidFill>
                  <a:srgbClr val="64748B"/>
                </a:solidFill>
              </a:rPr>
              <a:t>Core plugins ship with Gradle; community plugins are fetched from Gradle Plugin Portal.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Gradle Wrapper Guarantees Reproducible Builds without Local Installations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10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Why Use the Wrapper (`gradlew`)?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Zero Pre-Installation: </a:t>
            </a:r>
            <a:r>
              <a:rPr b="0">
                <a:solidFill>
                  <a:srgbClr val="64748B"/>
                </a:solidFill>
              </a:rPr>
              <a:t>Developers &amp; CI servers don't need Gradle installed manually.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Exact Version Lock: </a:t>
            </a:r>
            <a:r>
              <a:rPr b="0">
                <a:solidFill>
                  <a:srgbClr val="64748B"/>
                </a:solidFill>
              </a:rPr>
              <a:t>Ensures every developer and build agent uses the exact same Gradle version.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Auto-Download: </a:t>
            </a:r>
            <a:r>
              <a:rPr b="0">
                <a:solidFill>
                  <a:srgbClr val="64748B"/>
                </a:solidFill>
              </a:rPr>
              <a:t>Automatically fetches and unpacks the target Gradle distribution on first invocation.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Verdana"/>
              </a:defRPr>
            </a:pPr>
            <a:r>
              <a:t>• Seamless Upgrades: </a:t>
            </a:r>
            <a:r>
              <a:rPr b="0">
                <a:solidFill>
                  <a:srgbClr val="64748B"/>
                </a:solidFill>
              </a:rPr>
              <a:t>Upgrading Gradle is as simple as running `./gradlew wrapper --gradle-version 8.12`.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Wrapper File Structure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`gradlew`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Shell script for Unix / Linux / macOS execution.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`gradlew.bat`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Batch script for Windows environments.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`gradle/wrapper/gradle-wrapper.jar`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Wrapper execution binary code.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`gradle/wrapper/gradle-wrapper.properties`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Configuration specifying distribution URL and checksum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Daemons, Incremental Builds, and Caching Cut Build Times Drastically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12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⚡ Gradle Daemon</a:t>
            </a:r>
          </a:p>
          <a:p>
            <a:pPr>
              <a:spcAft>
                <a:spcPts val="12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Long-Lived JVM Process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Keeps JVM warmed up in RAM between build runs, eliminating JVM startup and JIT compilation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🔄 Incremental Builds</a:t>
            </a:r>
          </a:p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Verdana"/>
              </a:defRPr>
            </a:pPr>
            <a:r>
              <a:t>UP-TO-DATE Task Skipping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Gradle tracks input and output files. Tasks with unchanged inputs are automatically skipped as `UP-TO-DATE`.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137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🗄️ Local &amp; Remote Cache</a:t>
            </a:r>
          </a:p>
          <a:p>
            <a:pPr>
              <a:spcAft>
                <a:spcPts val="1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Build Output Reuse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Reuses task outputs across different branches, local workspaces, and continuous integration (CI)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Gradle Outperforms Maven and Ant in Speed, Flexibility, and Scriptability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13 of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420386"/>
              </p:ext>
            </p:extLst>
          </p:nvPr>
        </p:nvGraphicFramePr>
        <p:xfrm>
          <a:off x="691116" y="1645920"/>
          <a:ext cx="10769059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39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dirty="0"/>
                        <a:t>Apache 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Apache Maven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Gradle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Build File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XML (`build.xml`)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XML (`pom.xml`)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Groovy / Kotlin DSL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Flexibility vs Convention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High flexibility / No convention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Rigid convention over 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Convention WITH high flexibility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Build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Slow (Rebuilds everything)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Moderate (Sequential lifecycle)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Ultra Fast (Daemon &amp; Caching)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Dependency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Manual / Ivy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Transitive XML declarations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rPr dirty="0"/>
                        <a:t>Advanced resolution &amp; scoping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Built-In Testing and Quality Plugins Enforce Automated Enterprise Quality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14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Testing Framework Integration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Native Test Execution: </a:t>
            </a:r>
            <a:r>
              <a:rPr b="0">
                <a:solidFill>
                  <a:srgbClr val="64748B"/>
                </a:solidFill>
              </a:rPr>
              <a:t>The `test` task detects and runs JUnit 4, JUnit 5, or TestNG test suites automatically.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HTML Report Generation: </a:t>
            </a:r>
            <a:r>
              <a:rPr b="0">
                <a:solidFill>
                  <a:srgbClr val="64748B"/>
                </a:solidFill>
              </a:rPr>
              <a:t>Automatically generates interactive HTML test summaries in `build/reports/tests/test/index.html`.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Test Parallelization: </a:t>
            </a:r>
            <a:r>
              <a:rPr b="0">
                <a:solidFill>
                  <a:srgbClr val="64748B"/>
                </a:solidFill>
              </a:rPr>
              <a:t>Executes test classes concurrently across multiple JVM worker processes (`maxParallelForks`).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t>• Test Filtering: </a:t>
            </a:r>
            <a:r>
              <a:rPr b="0">
                <a:solidFill>
                  <a:srgbClr val="64748B"/>
                </a:solidFill>
              </a:rPr>
              <a:t>Execute specific test classes via command line: `./gradlew test --tests 'com.example.ServiceTest'`.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Static Code Analysis Plugins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JaCoCo Plugin: </a:t>
            </a:r>
            <a:r>
              <a:rPr b="0">
                <a:solidFill>
                  <a:srgbClr val="64748B"/>
                </a:solidFill>
              </a:rPr>
              <a:t>Measures code coverage and generates detailed XML/HTML coverage reports.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Checkstyle Plugin: </a:t>
            </a:r>
            <a:r>
              <a:rPr b="0">
                <a:solidFill>
                  <a:srgbClr val="64748B"/>
                </a:solidFill>
              </a:rPr>
              <a:t>Enforces Java coding standard rules across the repository.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PMD Plugin: </a:t>
            </a:r>
            <a:r>
              <a:rPr b="0">
                <a:solidFill>
                  <a:srgbClr val="64748B"/>
                </a:solidFill>
              </a:rPr>
              <a:t>Analyzes source code to detect potential bugs, dead code, and sub-optimal code patterns.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• SonarQube Integration: </a:t>
            </a:r>
            <a:r>
              <a:rPr b="0">
                <a:solidFill>
                  <a:srgbClr val="64748B"/>
                </a:solidFill>
              </a:rPr>
              <a:t>Pushes build analysis metrics directly to centralized enterprise dashboards.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GRADLE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Five Core Practices Deliver Production-Ready and Maintainable 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Gradle Technical Briefing  |  Slide 15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Georgia"/>
              </a:defRPr>
            </a:pPr>
            <a:r>
              <a:t>1. Always Use Gradle Wrapper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Commit `gradlew` and `gradle-wrapper.properties` to version control to enforce reproducible builds across all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Georgia"/>
              </a:defRPr>
            </a:pPr>
            <a:r>
              <a:t>2. Prefer Kotlin DSL (`.kts`)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Adopt Kotlin DSL for new projects to leverage compile-time type safety and superior IDE auto-completion.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Georgia"/>
              </a:defRPr>
            </a:pPr>
            <a:r>
              <a:t>3. Centralize with Version Catalogs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Use `libs.versions.toml` to manage dependency versions centrally across multi-module builds.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Georgia"/>
              </a:defRPr>
            </a:pPr>
            <a:r>
              <a:t>4. Enable Build Cache &amp; Daemon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Keep Gradle Daemon active and configure build caching to minimize build wait times.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Georgia"/>
              </a:defRPr>
            </a:pPr>
            <a:r>
              <a:t>5. Avoid Task Configuration Eagerness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Use task configuration avoidance APIs (`tasks.register` instead of `tasks.create`) to keep configuration phase fast.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2337</Words>
  <Application>Microsoft Office PowerPoint</Application>
  <PresentationFormat>Widescreen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WAHEGURU JI</dc:creator>
  <cp:keywords/>
  <dc:description>generated using python-pptx</dc:description>
  <cp:lastModifiedBy>Raj Singh</cp:lastModifiedBy>
  <cp:revision>3</cp:revision>
  <dcterms:created xsi:type="dcterms:W3CDTF">2013-01-27T09:14:16Z</dcterms:created>
  <dcterms:modified xsi:type="dcterms:W3CDTF">2026-09-23T16:54:13Z</dcterms:modified>
  <cp:category/>
</cp:coreProperties>
</file>